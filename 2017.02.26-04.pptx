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8" r:id="rId2"/>
    <p:sldId id="257" r:id="rId3"/>
    <p:sldId id="259" r:id="rId4"/>
    <p:sldId id="275" r:id="rId5"/>
    <p:sldId id="260" r:id="rId6"/>
    <p:sldId id="261" r:id="rId7"/>
    <p:sldId id="262" r:id="rId8"/>
    <p:sldId id="263" r:id="rId9"/>
    <p:sldId id="266" r:id="rId10"/>
    <p:sldId id="277" r:id="rId11"/>
    <p:sldId id="278" r:id="rId12"/>
    <p:sldId id="267" r:id="rId13"/>
    <p:sldId id="265" r:id="rId14"/>
    <p:sldId id="279" r:id="rId15"/>
    <p:sldId id="268" r:id="rId16"/>
    <p:sldId id="271" r:id="rId17"/>
    <p:sldId id="269" r:id="rId18"/>
    <p:sldId id="270" r:id="rId19"/>
    <p:sldId id="272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1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23C97E-25E0-4BED-AA6A-3B2AE1E3EB2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88EABC2-776C-428D-87C1-D9E3E7912750}">
      <dgm:prSet phldrT="[文本]"/>
      <dgm:spPr>
        <a:solidFill>
          <a:schemeClr val="bg1">
            <a:alpha val="39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2016.09-2017.01</a:t>
          </a:r>
          <a:r>
            <a:rPr lang="zh-CN" altLang="en-US" dirty="0" smtClean="0">
              <a:solidFill>
                <a:schemeClr val="tx1"/>
              </a:solidFill>
            </a:rPr>
            <a:t>：课题调研，确定研究方案</a:t>
          </a:r>
          <a:r>
            <a:rPr lang="en-US" altLang="zh-CN" dirty="0" smtClean="0">
              <a:solidFill>
                <a:schemeClr val="tx1"/>
              </a:solidFill>
            </a:rPr>
            <a:t> </a:t>
          </a:r>
          <a:endParaRPr lang="zh-CN" altLang="en-US" dirty="0">
            <a:solidFill>
              <a:schemeClr val="tx1"/>
            </a:solidFill>
          </a:endParaRPr>
        </a:p>
      </dgm:t>
    </dgm:pt>
    <dgm:pt modelId="{746E93AF-1A58-4C6E-8154-489F4D04ACDF}" type="parTrans" cxnId="{7E7EB426-4E39-44EC-B20D-066FA77E0F1E}">
      <dgm:prSet/>
      <dgm:spPr/>
      <dgm:t>
        <a:bodyPr/>
        <a:lstStyle/>
        <a:p>
          <a:endParaRPr lang="zh-CN" altLang="en-US"/>
        </a:p>
      </dgm:t>
    </dgm:pt>
    <dgm:pt modelId="{27C2FD5C-EB42-429D-9917-0366DDEB42CA}" type="sibTrans" cxnId="{7E7EB426-4E39-44EC-B20D-066FA77E0F1E}">
      <dgm:prSet/>
      <dgm:spPr/>
      <dgm:t>
        <a:bodyPr/>
        <a:lstStyle/>
        <a:p>
          <a:endParaRPr lang="zh-CN" altLang="en-US"/>
        </a:p>
      </dgm:t>
    </dgm:pt>
    <dgm:pt modelId="{C150FAC3-B102-4924-B100-1BC9FCBCB1A2}">
      <dgm:prSet phldrT="[文本]"/>
      <dgm:spPr>
        <a:solidFill>
          <a:schemeClr val="bg1">
            <a:alpha val="39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2017.08-2017.10</a:t>
          </a:r>
          <a:r>
            <a:rPr lang="zh-CN" altLang="en-US" dirty="0" smtClean="0">
              <a:solidFill>
                <a:schemeClr val="tx1"/>
              </a:solidFill>
            </a:rPr>
            <a:t>：论文撰写</a:t>
          </a:r>
          <a:endParaRPr lang="zh-CN" altLang="en-US" dirty="0">
            <a:solidFill>
              <a:schemeClr val="tx1"/>
            </a:solidFill>
          </a:endParaRPr>
        </a:p>
      </dgm:t>
    </dgm:pt>
    <dgm:pt modelId="{55CA465D-55D5-4EDB-95AF-70597DC92915}" type="parTrans" cxnId="{AEA7991C-EC9C-4106-BCB8-08B40A8F207B}">
      <dgm:prSet/>
      <dgm:spPr/>
      <dgm:t>
        <a:bodyPr/>
        <a:lstStyle/>
        <a:p>
          <a:endParaRPr lang="zh-CN" altLang="en-US"/>
        </a:p>
      </dgm:t>
    </dgm:pt>
    <dgm:pt modelId="{59C95747-F27C-4B79-A0E5-E28DF95ABC03}" type="sibTrans" cxnId="{AEA7991C-EC9C-4106-BCB8-08B40A8F207B}">
      <dgm:prSet/>
      <dgm:spPr/>
      <dgm:t>
        <a:bodyPr/>
        <a:lstStyle/>
        <a:p>
          <a:endParaRPr lang="zh-CN" altLang="en-US"/>
        </a:p>
      </dgm:t>
    </dgm:pt>
    <dgm:pt modelId="{A7486D04-3FB0-4A7C-BE5D-01E81A7E5C63}">
      <dgm:prSet/>
      <dgm:spPr>
        <a:solidFill>
          <a:schemeClr val="bg1">
            <a:alpha val="39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2017.05-2017.07</a:t>
          </a:r>
          <a:r>
            <a:rPr lang="zh-CN" altLang="en-US" dirty="0" smtClean="0">
              <a:solidFill>
                <a:schemeClr val="tx1"/>
              </a:solidFill>
            </a:rPr>
            <a:t>：设计实验</a:t>
          </a:r>
          <a:endParaRPr lang="zh-CN" altLang="en-US" dirty="0">
            <a:solidFill>
              <a:schemeClr val="tx1"/>
            </a:solidFill>
          </a:endParaRPr>
        </a:p>
      </dgm:t>
    </dgm:pt>
    <dgm:pt modelId="{DFAFF7DD-E073-4F45-87A6-4A2C27CF0C65}" type="parTrans" cxnId="{69327D32-911D-4D2D-B69A-8FFD5570415F}">
      <dgm:prSet/>
      <dgm:spPr/>
      <dgm:t>
        <a:bodyPr/>
        <a:lstStyle/>
        <a:p>
          <a:endParaRPr lang="zh-CN" altLang="en-US"/>
        </a:p>
      </dgm:t>
    </dgm:pt>
    <dgm:pt modelId="{031794EF-75C0-4501-9DBB-B2D5FF9010BE}" type="sibTrans" cxnId="{69327D32-911D-4D2D-B69A-8FFD5570415F}">
      <dgm:prSet/>
      <dgm:spPr/>
      <dgm:t>
        <a:bodyPr/>
        <a:lstStyle/>
        <a:p>
          <a:endParaRPr lang="zh-CN" altLang="en-US"/>
        </a:p>
      </dgm:t>
    </dgm:pt>
    <dgm:pt modelId="{1F7201F9-085F-429F-B2E0-B0FE05D1F6C9}">
      <dgm:prSet/>
      <dgm:spPr>
        <a:solidFill>
          <a:schemeClr val="bg1">
            <a:alpha val="39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2017.02-2017.04</a:t>
          </a:r>
          <a:r>
            <a:rPr lang="zh-CN" altLang="en-US" dirty="0" smtClean="0">
              <a:solidFill>
                <a:schemeClr val="tx1"/>
              </a:solidFill>
            </a:rPr>
            <a:t>：</a:t>
          </a:r>
          <a:r>
            <a:rPr lang="en-US" altLang="zh-CN" dirty="0" smtClean="0">
              <a:solidFill>
                <a:schemeClr val="tx1"/>
              </a:solidFill>
            </a:rPr>
            <a:t> </a:t>
          </a:r>
          <a:r>
            <a:rPr lang="zh-CN" altLang="en-US" dirty="0" smtClean="0">
              <a:solidFill>
                <a:schemeClr val="tx1"/>
              </a:solidFill>
            </a:rPr>
            <a:t>算法设计与模型设计</a:t>
          </a:r>
          <a:endParaRPr lang="zh-CN" altLang="en-US" dirty="0">
            <a:solidFill>
              <a:schemeClr val="tx1"/>
            </a:solidFill>
          </a:endParaRPr>
        </a:p>
      </dgm:t>
    </dgm:pt>
    <dgm:pt modelId="{82F1A542-BC53-4887-875B-44AC069AB5EF}" type="parTrans" cxnId="{93306617-4576-499D-932E-E7F02681B29B}">
      <dgm:prSet/>
      <dgm:spPr/>
      <dgm:t>
        <a:bodyPr/>
        <a:lstStyle/>
        <a:p>
          <a:endParaRPr lang="zh-CN" altLang="en-US"/>
        </a:p>
      </dgm:t>
    </dgm:pt>
    <dgm:pt modelId="{1D8EEE9D-9D31-4963-B66C-0B4969D17B2E}" type="sibTrans" cxnId="{93306617-4576-499D-932E-E7F02681B29B}">
      <dgm:prSet/>
      <dgm:spPr/>
      <dgm:t>
        <a:bodyPr/>
        <a:lstStyle/>
        <a:p>
          <a:endParaRPr lang="zh-CN" altLang="en-US"/>
        </a:p>
      </dgm:t>
    </dgm:pt>
    <dgm:pt modelId="{4E0B9DFA-EB1C-443F-B7CD-0E845895C3A3}">
      <dgm:prSet phldrT="[文本]"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altLang="zh-CN" dirty="0" smtClean="0">
              <a:solidFill>
                <a:schemeClr val="tx1"/>
              </a:solidFill>
            </a:rPr>
            <a:t>2017.11-</a:t>
          </a:r>
          <a:r>
            <a:rPr lang="zh-CN" altLang="en-US" dirty="0" smtClean="0">
              <a:solidFill>
                <a:schemeClr val="tx1"/>
              </a:solidFill>
            </a:rPr>
            <a:t>：投稿</a:t>
          </a:r>
          <a:endParaRPr lang="zh-CN" altLang="en-US" dirty="0"/>
        </a:p>
      </dgm:t>
    </dgm:pt>
    <dgm:pt modelId="{843B66B4-217E-4679-A4BE-4C49B59D16D5}" type="sibTrans" cxnId="{33F4FA54-F93C-495C-84FF-D9049ECE6EDD}">
      <dgm:prSet/>
      <dgm:spPr/>
      <dgm:t>
        <a:bodyPr/>
        <a:lstStyle/>
        <a:p>
          <a:endParaRPr lang="zh-CN" altLang="en-US"/>
        </a:p>
      </dgm:t>
    </dgm:pt>
    <dgm:pt modelId="{C16D1024-EAB8-4C07-879A-1CE668DCA4BC}" type="parTrans" cxnId="{33F4FA54-F93C-495C-84FF-D9049ECE6EDD}">
      <dgm:prSet/>
      <dgm:spPr/>
      <dgm:t>
        <a:bodyPr/>
        <a:lstStyle/>
        <a:p>
          <a:endParaRPr lang="zh-CN" altLang="en-US"/>
        </a:p>
      </dgm:t>
    </dgm:pt>
    <dgm:pt modelId="{9FB88D17-59DB-443B-AB46-E8732E950877}" type="pres">
      <dgm:prSet presAssocID="{7C23C97E-25E0-4BED-AA6A-3B2AE1E3EB2F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65B0D40A-1189-44C0-814B-7870477D94C2}" type="pres">
      <dgm:prSet presAssocID="{7C23C97E-25E0-4BED-AA6A-3B2AE1E3EB2F}" presName="dummyMaxCanvas" presStyleCnt="0">
        <dgm:presLayoutVars/>
      </dgm:prSet>
      <dgm:spPr/>
    </dgm:pt>
    <dgm:pt modelId="{94C0693B-DD99-4B13-9A4D-523968F32AD9}" type="pres">
      <dgm:prSet presAssocID="{7C23C97E-25E0-4BED-AA6A-3B2AE1E3EB2F}" presName="FiveNodes_1" presStyleLbl="node1" presStyleIdx="0" presStyleCnt="5" custLinFactNeighborX="0" custLinFactNeighborY="-732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FD7392D-5156-4B5E-B59E-ED88952A03BC}" type="pres">
      <dgm:prSet presAssocID="{7C23C97E-25E0-4BED-AA6A-3B2AE1E3EB2F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36A7201-3F87-47E0-88B4-21B03F1AAEA1}" type="pres">
      <dgm:prSet presAssocID="{7C23C97E-25E0-4BED-AA6A-3B2AE1E3EB2F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8563D6D-CBB7-4A0A-80AD-23A759AF2531}" type="pres">
      <dgm:prSet presAssocID="{7C23C97E-25E0-4BED-AA6A-3B2AE1E3EB2F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E8B789C-A1A9-4F21-8657-C9EA0A0612CF}" type="pres">
      <dgm:prSet presAssocID="{7C23C97E-25E0-4BED-AA6A-3B2AE1E3EB2F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7E399FE-B289-4113-8206-6169807BFA51}" type="pres">
      <dgm:prSet presAssocID="{7C23C97E-25E0-4BED-AA6A-3B2AE1E3EB2F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03C8711-322E-43F0-AB96-982ACA096A40}" type="pres">
      <dgm:prSet presAssocID="{7C23C97E-25E0-4BED-AA6A-3B2AE1E3EB2F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D8BC796-886F-4C50-9801-D35FA326B0FF}" type="pres">
      <dgm:prSet presAssocID="{7C23C97E-25E0-4BED-AA6A-3B2AE1E3EB2F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BE15A76-85AB-4023-9D46-E7B7BDAF67B8}" type="pres">
      <dgm:prSet presAssocID="{7C23C97E-25E0-4BED-AA6A-3B2AE1E3EB2F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B3CD19-1480-405C-8CFF-592DB693A692}" type="pres">
      <dgm:prSet presAssocID="{7C23C97E-25E0-4BED-AA6A-3B2AE1E3EB2F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5E933FD-A9EB-4423-AA67-EBD2D6849125}" type="pres">
      <dgm:prSet presAssocID="{7C23C97E-25E0-4BED-AA6A-3B2AE1E3EB2F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C429A44-EE94-40F1-B0A1-7C5EAC3E88EC}" type="pres">
      <dgm:prSet presAssocID="{7C23C97E-25E0-4BED-AA6A-3B2AE1E3EB2F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C1E8DC1-AAFE-410C-B7DD-4A36D1E79802}" type="pres">
      <dgm:prSet presAssocID="{7C23C97E-25E0-4BED-AA6A-3B2AE1E3EB2F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6E32E93-2547-4B26-ABEC-701EB21ADE41}" type="pres">
      <dgm:prSet presAssocID="{7C23C97E-25E0-4BED-AA6A-3B2AE1E3EB2F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43AF7A9-F3F3-4B88-BF80-F4FD47A1E06E}" type="presOf" srcId="{588EABC2-776C-428D-87C1-D9E3E7912750}" destId="{94C0693B-DD99-4B13-9A4D-523968F32AD9}" srcOrd="0" destOrd="0" presId="urn:microsoft.com/office/officeart/2005/8/layout/vProcess5"/>
    <dgm:cxn modelId="{49CC9011-3CF8-4A87-9AD3-D16DB80991BD}" type="presOf" srcId="{A7486D04-3FB0-4A7C-BE5D-01E81A7E5C63}" destId="{436A7201-3F87-47E0-88B4-21B03F1AAEA1}" srcOrd="0" destOrd="0" presId="urn:microsoft.com/office/officeart/2005/8/layout/vProcess5"/>
    <dgm:cxn modelId="{981FB04D-C42D-4837-BCBF-8F81B0C94235}" type="presOf" srcId="{1D8EEE9D-9D31-4963-B66C-0B4969D17B2E}" destId="{603C8711-322E-43F0-AB96-982ACA096A40}" srcOrd="0" destOrd="0" presId="urn:microsoft.com/office/officeart/2005/8/layout/vProcess5"/>
    <dgm:cxn modelId="{4A7BEC6D-9C4C-433B-862F-D04DD9A361B1}" type="presOf" srcId="{4E0B9DFA-EB1C-443F-B7CD-0E845895C3A3}" destId="{2E8B789C-A1A9-4F21-8657-C9EA0A0612CF}" srcOrd="0" destOrd="0" presId="urn:microsoft.com/office/officeart/2005/8/layout/vProcess5"/>
    <dgm:cxn modelId="{47B1361D-FB30-4671-AE82-350406305D4D}" type="presOf" srcId="{C150FAC3-B102-4924-B100-1BC9FCBCB1A2}" destId="{68563D6D-CBB7-4A0A-80AD-23A759AF2531}" srcOrd="0" destOrd="0" presId="urn:microsoft.com/office/officeart/2005/8/layout/vProcess5"/>
    <dgm:cxn modelId="{69327D32-911D-4D2D-B69A-8FFD5570415F}" srcId="{7C23C97E-25E0-4BED-AA6A-3B2AE1E3EB2F}" destId="{A7486D04-3FB0-4A7C-BE5D-01E81A7E5C63}" srcOrd="2" destOrd="0" parTransId="{DFAFF7DD-E073-4F45-87A6-4A2C27CF0C65}" sibTransId="{031794EF-75C0-4501-9DBB-B2D5FF9010BE}"/>
    <dgm:cxn modelId="{33F4FA54-F93C-495C-84FF-D9049ECE6EDD}" srcId="{7C23C97E-25E0-4BED-AA6A-3B2AE1E3EB2F}" destId="{4E0B9DFA-EB1C-443F-B7CD-0E845895C3A3}" srcOrd="4" destOrd="0" parTransId="{C16D1024-EAB8-4C07-879A-1CE668DCA4BC}" sibTransId="{843B66B4-217E-4679-A4BE-4C49B59D16D5}"/>
    <dgm:cxn modelId="{26907548-59DD-4A88-8852-6442C87AC45B}" type="presOf" srcId="{59C95747-F27C-4B79-A0E5-E28DF95ABC03}" destId="{1BE15A76-85AB-4023-9D46-E7B7BDAF67B8}" srcOrd="0" destOrd="0" presId="urn:microsoft.com/office/officeart/2005/8/layout/vProcess5"/>
    <dgm:cxn modelId="{F7135A7F-47F8-4CD4-9C46-695C00218DD7}" type="presOf" srcId="{7C23C97E-25E0-4BED-AA6A-3B2AE1E3EB2F}" destId="{9FB88D17-59DB-443B-AB46-E8732E950877}" srcOrd="0" destOrd="0" presId="urn:microsoft.com/office/officeart/2005/8/layout/vProcess5"/>
    <dgm:cxn modelId="{15AE2A63-7B96-4C70-8832-FF2AE03D0820}" type="presOf" srcId="{27C2FD5C-EB42-429D-9917-0366DDEB42CA}" destId="{D7E399FE-B289-4113-8206-6169807BFA51}" srcOrd="0" destOrd="0" presId="urn:microsoft.com/office/officeart/2005/8/layout/vProcess5"/>
    <dgm:cxn modelId="{8FD8E11B-C4B2-4E7C-9F55-8A4DBE89DFBE}" type="presOf" srcId="{588EABC2-776C-428D-87C1-D9E3E7912750}" destId="{BDB3CD19-1480-405C-8CFF-592DB693A692}" srcOrd="1" destOrd="0" presId="urn:microsoft.com/office/officeart/2005/8/layout/vProcess5"/>
    <dgm:cxn modelId="{AEA7991C-EC9C-4106-BCB8-08B40A8F207B}" srcId="{7C23C97E-25E0-4BED-AA6A-3B2AE1E3EB2F}" destId="{C150FAC3-B102-4924-B100-1BC9FCBCB1A2}" srcOrd="3" destOrd="0" parTransId="{55CA465D-55D5-4EDB-95AF-70597DC92915}" sibTransId="{59C95747-F27C-4B79-A0E5-E28DF95ABC03}"/>
    <dgm:cxn modelId="{D6EDEE99-4BAC-4D4F-A4BF-A7EEDE5716D3}" type="presOf" srcId="{031794EF-75C0-4501-9DBB-B2D5FF9010BE}" destId="{0D8BC796-886F-4C50-9801-D35FA326B0FF}" srcOrd="0" destOrd="0" presId="urn:microsoft.com/office/officeart/2005/8/layout/vProcess5"/>
    <dgm:cxn modelId="{501E7187-3082-44F6-B93D-0E7D9065F996}" type="presOf" srcId="{1F7201F9-085F-429F-B2E0-B0FE05D1F6C9}" destId="{DFD7392D-5156-4B5E-B59E-ED88952A03BC}" srcOrd="0" destOrd="0" presId="urn:microsoft.com/office/officeart/2005/8/layout/vProcess5"/>
    <dgm:cxn modelId="{7E7EB426-4E39-44EC-B20D-066FA77E0F1E}" srcId="{7C23C97E-25E0-4BED-AA6A-3B2AE1E3EB2F}" destId="{588EABC2-776C-428D-87C1-D9E3E7912750}" srcOrd="0" destOrd="0" parTransId="{746E93AF-1A58-4C6E-8154-489F4D04ACDF}" sibTransId="{27C2FD5C-EB42-429D-9917-0366DDEB42CA}"/>
    <dgm:cxn modelId="{330D14AE-9305-4394-BE56-052F0B3B00C5}" type="presOf" srcId="{4E0B9DFA-EB1C-443F-B7CD-0E845895C3A3}" destId="{26E32E93-2547-4B26-ABEC-701EB21ADE41}" srcOrd="1" destOrd="0" presId="urn:microsoft.com/office/officeart/2005/8/layout/vProcess5"/>
    <dgm:cxn modelId="{AC4C417B-B069-4252-988E-8AEDC9924408}" type="presOf" srcId="{1F7201F9-085F-429F-B2E0-B0FE05D1F6C9}" destId="{C5E933FD-A9EB-4423-AA67-EBD2D6849125}" srcOrd="1" destOrd="0" presId="urn:microsoft.com/office/officeart/2005/8/layout/vProcess5"/>
    <dgm:cxn modelId="{93306617-4576-499D-932E-E7F02681B29B}" srcId="{7C23C97E-25E0-4BED-AA6A-3B2AE1E3EB2F}" destId="{1F7201F9-085F-429F-B2E0-B0FE05D1F6C9}" srcOrd="1" destOrd="0" parTransId="{82F1A542-BC53-4887-875B-44AC069AB5EF}" sibTransId="{1D8EEE9D-9D31-4963-B66C-0B4969D17B2E}"/>
    <dgm:cxn modelId="{C202C6D8-A989-4F9F-BE21-84307775FE86}" type="presOf" srcId="{A7486D04-3FB0-4A7C-BE5D-01E81A7E5C63}" destId="{7C429A44-EE94-40F1-B0A1-7C5EAC3E88EC}" srcOrd="1" destOrd="0" presId="urn:microsoft.com/office/officeart/2005/8/layout/vProcess5"/>
    <dgm:cxn modelId="{DA7E2719-5D7E-4D7C-B5AF-E4C5B66C2163}" type="presOf" srcId="{C150FAC3-B102-4924-B100-1BC9FCBCB1A2}" destId="{5C1E8DC1-AAFE-410C-B7DD-4A36D1E79802}" srcOrd="1" destOrd="0" presId="urn:microsoft.com/office/officeart/2005/8/layout/vProcess5"/>
    <dgm:cxn modelId="{7C18CED6-F9FA-434A-AA57-FE98A7475C66}" type="presParOf" srcId="{9FB88D17-59DB-443B-AB46-E8732E950877}" destId="{65B0D40A-1189-44C0-814B-7870477D94C2}" srcOrd="0" destOrd="0" presId="urn:microsoft.com/office/officeart/2005/8/layout/vProcess5"/>
    <dgm:cxn modelId="{D9146FC2-83DB-42B4-ADC0-B9B2F166C3B4}" type="presParOf" srcId="{9FB88D17-59DB-443B-AB46-E8732E950877}" destId="{94C0693B-DD99-4B13-9A4D-523968F32AD9}" srcOrd="1" destOrd="0" presId="urn:microsoft.com/office/officeart/2005/8/layout/vProcess5"/>
    <dgm:cxn modelId="{B83C64F2-BEFA-4B43-B446-A999FB4939A9}" type="presParOf" srcId="{9FB88D17-59DB-443B-AB46-E8732E950877}" destId="{DFD7392D-5156-4B5E-B59E-ED88952A03BC}" srcOrd="2" destOrd="0" presId="urn:microsoft.com/office/officeart/2005/8/layout/vProcess5"/>
    <dgm:cxn modelId="{F94E0699-91DC-4885-98A5-3F1D2530CBFA}" type="presParOf" srcId="{9FB88D17-59DB-443B-AB46-E8732E950877}" destId="{436A7201-3F87-47E0-88B4-21B03F1AAEA1}" srcOrd="3" destOrd="0" presId="urn:microsoft.com/office/officeart/2005/8/layout/vProcess5"/>
    <dgm:cxn modelId="{10224BB5-CA1D-4E91-AE4E-D43622D72E45}" type="presParOf" srcId="{9FB88D17-59DB-443B-AB46-E8732E950877}" destId="{68563D6D-CBB7-4A0A-80AD-23A759AF2531}" srcOrd="4" destOrd="0" presId="urn:microsoft.com/office/officeart/2005/8/layout/vProcess5"/>
    <dgm:cxn modelId="{3DF25B4C-0F07-4500-886A-DB519FCB8B30}" type="presParOf" srcId="{9FB88D17-59DB-443B-AB46-E8732E950877}" destId="{2E8B789C-A1A9-4F21-8657-C9EA0A0612CF}" srcOrd="5" destOrd="0" presId="urn:microsoft.com/office/officeart/2005/8/layout/vProcess5"/>
    <dgm:cxn modelId="{255B0EA7-1D6D-4638-A773-BB9E8300D015}" type="presParOf" srcId="{9FB88D17-59DB-443B-AB46-E8732E950877}" destId="{D7E399FE-B289-4113-8206-6169807BFA51}" srcOrd="6" destOrd="0" presId="urn:microsoft.com/office/officeart/2005/8/layout/vProcess5"/>
    <dgm:cxn modelId="{316549EF-DD09-4613-AC50-413469B5BE75}" type="presParOf" srcId="{9FB88D17-59DB-443B-AB46-E8732E950877}" destId="{603C8711-322E-43F0-AB96-982ACA096A40}" srcOrd="7" destOrd="0" presId="urn:microsoft.com/office/officeart/2005/8/layout/vProcess5"/>
    <dgm:cxn modelId="{4D7DE986-7066-45C6-95D1-A55B37C8DBA5}" type="presParOf" srcId="{9FB88D17-59DB-443B-AB46-E8732E950877}" destId="{0D8BC796-886F-4C50-9801-D35FA326B0FF}" srcOrd="8" destOrd="0" presId="urn:microsoft.com/office/officeart/2005/8/layout/vProcess5"/>
    <dgm:cxn modelId="{3AF5BE65-56F2-4DC1-B5CF-407328AB7F99}" type="presParOf" srcId="{9FB88D17-59DB-443B-AB46-E8732E950877}" destId="{1BE15A76-85AB-4023-9D46-E7B7BDAF67B8}" srcOrd="9" destOrd="0" presId="urn:microsoft.com/office/officeart/2005/8/layout/vProcess5"/>
    <dgm:cxn modelId="{36EB50C1-B0C3-4745-84B6-C6ACFD8772B0}" type="presParOf" srcId="{9FB88D17-59DB-443B-AB46-E8732E950877}" destId="{BDB3CD19-1480-405C-8CFF-592DB693A692}" srcOrd="10" destOrd="0" presId="urn:microsoft.com/office/officeart/2005/8/layout/vProcess5"/>
    <dgm:cxn modelId="{8CDCBDF3-1BAA-44C1-ABB7-01813A669D5D}" type="presParOf" srcId="{9FB88D17-59DB-443B-AB46-E8732E950877}" destId="{C5E933FD-A9EB-4423-AA67-EBD2D6849125}" srcOrd="11" destOrd="0" presId="urn:microsoft.com/office/officeart/2005/8/layout/vProcess5"/>
    <dgm:cxn modelId="{2EA60D9C-EF7E-4273-9E8E-11D110E4D352}" type="presParOf" srcId="{9FB88D17-59DB-443B-AB46-E8732E950877}" destId="{7C429A44-EE94-40F1-B0A1-7C5EAC3E88EC}" srcOrd="12" destOrd="0" presId="urn:microsoft.com/office/officeart/2005/8/layout/vProcess5"/>
    <dgm:cxn modelId="{ABDAEEB9-0B93-4F8F-A1E1-306B9BFA0019}" type="presParOf" srcId="{9FB88D17-59DB-443B-AB46-E8732E950877}" destId="{5C1E8DC1-AAFE-410C-B7DD-4A36D1E79802}" srcOrd="13" destOrd="0" presId="urn:microsoft.com/office/officeart/2005/8/layout/vProcess5"/>
    <dgm:cxn modelId="{1E2B3844-5CE4-4B12-B964-9F7EFFE5FDD8}" type="presParOf" srcId="{9FB88D17-59DB-443B-AB46-E8732E950877}" destId="{26E32E93-2547-4B26-ABEC-701EB21ADE41}" srcOrd="14" destOrd="0" presId="urn:microsoft.com/office/officeart/2005/8/layout/vProcess5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0693B-DD99-4B13-9A4D-523968F32AD9}">
      <dsp:nvSpPr>
        <dsp:cNvPr id="0" name=""/>
        <dsp:cNvSpPr/>
      </dsp:nvSpPr>
      <dsp:spPr>
        <a:xfrm>
          <a:off x="0" y="0"/>
          <a:ext cx="5327986" cy="539377"/>
        </a:xfrm>
        <a:prstGeom prst="roundRect">
          <a:avLst>
            <a:gd name="adj" fmla="val 10000"/>
          </a:avLst>
        </a:prstGeom>
        <a:solidFill>
          <a:schemeClr val="bg1">
            <a:alpha val="39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solidFill>
                <a:schemeClr val="tx1"/>
              </a:solidFill>
            </a:rPr>
            <a:t>2016.09-2017.01</a:t>
          </a:r>
          <a:r>
            <a:rPr lang="zh-CN" altLang="en-US" sz="1800" kern="1200" dirty="0" smtClean="0">
              <a:solidFill>
                <a:schemeClr val="tx1"/>
              </a:solidFill>
            </a:rPr>
            <a:t>：课题调研，确定研究方案</a:t>
          </a:r>
          <a:r>
            <a:rPr lang="en-US" altLang="zh-CN" sz="1800" kern="1200" dirty="0" smtClean="0">
              <a:solidFill>
                <a:schemeClr val="tx1"/>
              </a:solidFill>
            </a:rPr>
            <a:t> </a:t>
          </a:r>
          <a:endParaRPr lang="zh-CN" altLang="en-US" sz="1800" kern="1200" dirty="0">
            <a:solidFill>
              <a:schemeClr val="tx1"/>
            </a:solidFill>
          </a:endParaRPr>
        </a:p>
      </dsp:txBody>
      <dsp:txXfrm>
        <a:off x="15798" y="15798"/>
        <a:ext cx="4682848" cy="507781"/>
      </dsp:txXfrm>
    </dsp:sp>
    <dsp:sp modelId="{DFD7392D-5156-4B5E-B59E-ED88952A03BC}">
      <dsp:nvSpPr>
        <dsp:cNvPr id="0" name=""/>
        <dsp:cNvSpPr/>
      </dsp:nvSpPr>
      <dsp:spPr>
        <a:xfrm>
          <a:off x="397869" y="614291"/>
          <a:ext cx="5327986" cy="539377"/>
        </a:xfrm>
        <a:prstGeom prst="roundRect">
          <a:avLst>
            <a:gd name="adj" fmla="val 10000"/>
          </a:avLst>
        </a:prstGeom>
        <a:solidFill>
          <a:schemeClr val="bg1">
            <a:alpha val="39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solidFill>
                <a:schemeClr val="tx1"/>
              </a:solidFill>
            </a:rPr>
            <a:t>2017.02-2017.04</a:t>
          </a:r>
          <a:r>
            <a:rPr lang="zh-CN" altLang="en-US" sz="1800" kern="1200" dirty="0" smtClean="0">
              <a:solidFill>
                <a:schemeClr val="tx1"/>
              </a:solidFill>
            </a:rPr>
            <a:t>：</a:t>
          </a:r>
          <a:r>
            <a:rPr lang="en-US" altLang="zh-CN" sz="1800" kern="1200" dirty="0" smtClean="0">
              <a:solidFill>
                <a:schemeClr val="tx1"/>
              </a:solidFill>
            </a:rPr>
            <a:t> </a:t>
          </a:r>
          <a:r>
            <a:rPr lang="zh-CN" altLang="en-US" sz="1800" kern="1200" dirty="0" smtClean="0">
              <a:solidFill>
                <a:schemeClr val="tx1"/>
              </a:solidFill>
            </a:rPr>
            <a:t>算法设计与模型设计</a:t>
          </a:r>
          <a:endParaRPr lang="zh-CN" altLang="en-US" sz="1800" kern="1200" dirty="0">
            <a:solidFill>
              <a:schemeClr val="tx1"/>
            </a:solidFill>
          </a:endParaRPr>
        </a:p>
      </dsp:txBody>
      <dsp:txXfrm>
        <a:off x="413667" y="630089"/>
        <a:ext cx="4547925" cy="507781"/>
      </dsp:txXfrm>
    </dsp:sp>
    <dsp:sp modelId="{436A7201-3F87-47E0-88B4-21B03F1AAEA1}">
      <dsp:nvSpPr>
        <dsp:cNvPr id="0" name=""/>
        <dsp:cNvSpPr/>
      </dsp:nvSpPr>
      <dsp:spPr>
        <a:xfrm>
          <a:off x="795738" y="1228582"/>
          <a:ext cx="5327986" cy="539377"/>
        </a:xfrm>
        <a:prstGeom prst="roundRect">
          <a:avLst>
            <a:gd name="adj" fmla="val 10000"/>
          </a:avLst>
        </a:prstGeom>
        <a:solidFill>
          <a:schemeClr val="bg1">
            <a:alpha val="39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solidFill>
                <a:schemeClr val="tx1"/>
              </a:solidFill>
            </a:rPr>
            <a:t>2017.05-2017.07</a:t>
          </a:r>
          <a:r>
            <a:rPr lang="zh-CN" altLang="en-US" sz="1800" kern="1200" dirty="0" smtClean="0">
              <a:solidFill>
                <a:schemeClr val="tx1"/>
              </a:solidFill>
            </a:rPr>
            <a:t>：设计实验</a:t>
          </a:r>
          <a:endParaRPr lang="zh-CN" altLang="en-US" sz="1800" kern="1200" dirty="0">
            <a:solidFill>
              <a:schemeClr val="tx1"/>
            </a:solidFill>
          </a:endParaRPr>
        </a:p>
      </dsp:txBody>
      <dsp:txXfrm>
        <a:off x="811536" y="1244380"/>
        <a:ext cx="4547925" cy="507781"/>
      </dsp:txXfrm>
    </dsp:sp>
    <dsp:sp modelId="{68563D6D-CBB7-4A0A-80AD-23A759AF2531}">
      <dsp:nvSpPr>
        <dsp:cNvPr id="0" name=""/>
        <dsp:cNvSpPr/>
      </dsp:nvSpPr>
      <dsp:spPr>
        <a:xfrm>
          <a:off x="1193607" y="1842873"/>
          <a:ext cx="5327986" cy="539377"/>
        </a:xfrm>
        <a:prstGeom prst="roundRect">
          <a:avLst>
            <a:gd name="adj" fmla="val 10000"/>
          </a:avLst>
        </a:prstGeom>
        <a:solidFill>
          <a:schemeClr val="bg1">
            <a:alpha val="39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solidFill>
                <a:schemeClr val="tx1"/>
              </a:solidFill>
            </a:rPr>
            <a:t>2017.08-2017.10</a:t>
          </a:r>
          <a:r>
            <a:rPr lang="zh-CN" altLang="en-US" sz="1800" kern="1200" dirty="0" smtClean="0">
              <a:solidFill>
                <a:schemeClr val="tx1"/>
              </a:solidFill>
            </a:rPr>
            <a:t>：论文撰写</a:t>
          </a:r>
          <a:endParaRPr lang="zh-CN" altLang="en-US" sz="1800" kern="1200" dirty="0">
            <a:solidFill>
              <a:schemeClr val="tx1"/>
            </a:solidFill>
          </a:endParaRPr>
        </a:p>
      </dsp:txBody>
      <dsp:txXfrm>
        <a:off x="1209405" y="1858671"/>
        <a:ext cx="4547925" cy="507781"/>
      </dsp:txXfrm>
    </dsp:sp>
    <dsp:sp modelId="{2E8B789C-A1A9-4F21-8657-C9EA0A0612CF}">
      <dsp:nvSpPr>
        <dsp:cNvPr id="0" name=""/>
        <dsp:cNvSpPr/>
      </dsp:nvSpPr>
      <dsp:spPr>
        <a:xfrm>
          <a:off x="1591476" y="2457164"/>
          <a:ext cx="5327986" cy="539377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solidFill>
                <a:schemeClr val="tx1"/>
              </a:solidFill>
            </a:rPr>
            <a:t>2017.11-</a:t>
          </a:r>
          <a:r>
            <a:rPr lang="zh-CN" altLang="en-US" sz="1800" kern="1200" dirty="0" smtClean="0">
              <a:solidFill>
                <a:schemeClr val="tx1"/>
              </a:solidFill>
            </a:rPr>
            <a:t>：投稿</a:t>
          </a:r>
          <a:endParaRPr lang="zh-CN" altLang="en-US" sz="1800" kern="1200" dirty="0"/>
        </a:p>
      </dsp:txBody>
      <dsp:txXfrm>
        <a:off x="1607274" y="2472962"/>
        <a:ext cx="4547925" cy="507781"/>
      </dsp:txXfrm>
    </dsp:sp>
    <dsp:sp modelId="{D7E399FE-B289-4113-8206-6169807BFA51}">
      <dsp:nvSpPr>
        <dsp:cNvPr id="0" name=""/>
        <dsp:cNvSpPr/>
      </dsp:nvSpPr>
      <dsp:spPr>
        <a:xfrm>
          <a:off x="4977391" y="394045"/>
          <a:ext cx="350595" cy="350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5056275" y="394045"/>
        <a:ext cx="192827" cy="263823"/>
      </dsp:txXfrm>
    </dsp:sp>
    <dsp:sp modelId="{603C8711-322E-43F0-AB96-982ACA096A40}">
      <dsp:nvSpPr>
        <dsp:cNvPr id="0" name=""/>
        <dsp:cNvSpPr/>
      </dsp:nvSpPr>
      <dsp:spPr>
        <a:xfrm>
          <a:off x="5375260" y="1008336"/>
          <a:ext cx="350595" cy="350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5454144" y="1008336"/>
        <a:ext cx="192827" cy="263823"/>
      </dsp:txXfrm>
    </dsp:sp>
    <dsp:sp modelId="{0D8BC796-886F-4C50-9801-D35FA326B0FF}">
      <dsp:nvSpPr>
        <dsp:cNvPr id="0" name=""/>
        <dsp:cNvSpPr/>
      </dsp:nvSpPr>
      <dsp:spPr>
        <a:xfrm>
          <a:off x="5773129" y="1613637"/>
          <a:ext cx="350595" cy="350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5852013" y="1613637"/>
        <a:ext cx="192827" cy="263823"/>
      </dsp:txXfrm>
    </dsp:sp>
    <dsp:sp modelId="{1BE15A76-85AB-4023-9D46-E7B7BDAF67B8}">
      <dsp:nvSpPr>
        <dsp:cNvPr id="0" name=""/>
        <dsp:cNvSpPr/>
      </dsp:nvSpPr>
      <dsp:spPr>
        <a:xfrm>
          <a:off x="6170998" y="2233922"/>
          <a:ext cx="350595" cy="350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6249882" y="2233922"/>
        <a:ext cx="192827" cy="2638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8751D-5CC9-4031-AEFE-8C1DE544FC6C}" type="datetimeFigureOut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698BF1-5C47-4845-A0D0-EEB7C6E7F3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54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90EC82-F53C-49E6-9E9F-5E5139D7382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734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D0DB8-6BDD-4B82-9625-62ECDC8C6C5B}" type="datetime1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24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DF4-D1D0-4F88-87E6-337AE6A2AAA0}" type="datetime1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19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D389-14F9-4CE7-BF19-EF50CFA3D403}" type="datetime1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28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E7134-B5CB-40CC-AC42-197E9B84D14C}" type="datetime1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33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FC55-E844-41C4-A1C6-FD4FC65DCE6E}" type="datetime1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29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A514-A9FF-4B1B-AF0F-DBD220AB803F}" type="datetime1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940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DE7D-678C-4EBC-B652-1AA51CA9F1AE}" type="datetime1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379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D759B-AC8F-44C8-A8E1-F9BB7622693E}" type="datetime1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7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47CB7-D8B3-46C0-9309-2D7F5CE5DF7D}" type="datetime1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8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1F72B-0B71-4D51-AEB8-0FA83BA6A2BD}" type="datetime1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90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AC9D7-659A-4651-829C-47C9686654AE}" type="datetime1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669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DBB65-347F-49A1-8D19-0CCCB3390B73}" type="datetime1">
              <a:rPr lang="zh-CN" altLang="en-US" smtClean="0"/>
              <a:t>2017/2/27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FE1EA-9A1D-40B7-8DCD-A2E796383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95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jpe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 smtClean="0"/>
              <a:t>操作感知的分布式流处理质量控制研究</a:t>
            </a:r>
            <a:endParaRPr lang="zh-CN" altLang="en-US" sz="5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332962"/>
            <a:ext cx="6858000" cy="1655762"/>
          </a:xfrm>
        </p:spPr>
        <p:txBody>
          <a:bodyPr/>
          <a:lstStyle/>
          <a:p>
            <a:r>
              <a:rPr lang="zh-CN" altLang="en-US" dirty="0" smtClean="0"/>
              <a:t>               </a:t>
            </a:r>
            <a:r>
              <a:rPr lang="zh-CN" altLang="en-US" sz="2000" dirty="0" smtClean="0"/>
              <a:t>汇报人：王飞越</a:t>
            </a:r>
            <a:endParaRPr lang="en-US" altLang="zh-CN" sz="2000" dirty="0"/>
          </a:p>
          <a:p>
            <a:r>
              <a:rPr lang="zh-CN" altLang="en-US" sz="2000" dirty="0" smtClean="0"/>
              <a:t>导师、指导老师：陈汉华</a:t>
            </a:r>
            <a:endParaRPr lang="zh-CN" altLang="en-US" sz="2000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40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98"/>
    </mc:Choice>
    <mc:Fallback xmlns="">
      <p:transition spd="slow" advTm="15198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一、研究背景与目的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二、研究现状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三、研究方案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四、预期成果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五、进度安排</a:t>
            </a:r>
            <a:endParaRPr lang="zh-CN" altLang="en-US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2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844518"/>
            <a:ext cx="7886700" cy="831657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 smtClean="0"/>
              <a:t>一、研究背景与目的</a:t>
            </a:r>
            <a:endParaRPr lang="zh-CN" altLang="en-US" dirty="0"/>
          </a:p>
        </p:txBody>
      </p:sp>
      <p:pic>
        <p:nvPicPr>
          <p:cNvPr id="9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77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7"/>
    </mc:Choice>
    <mc:Fallback xmlns="">
      <p:transition spd="slow" advTm="157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分布式流处理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Facebook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499917" y="6488668"/>
            <a:ext cx="5969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操作感知的分布式流处理质量控制研究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715993" y="2320505"/>
            <a:ext cx="1509623" cy="1043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用户产生的实时数据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2225616" y="2510286"/>
            <a:ext cx="1380226" cy="66423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数据流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605842" y="2320505"/>
            <a:ext cx="1509623" cy="1043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查询</a:t>
            </a:r>
          </a:p>
        </p:txBody>
      </p:sp>
      <p:sp>
        <p:nvSpPr>
          <p:cNvPr id="11" name="右箭头 10"/>
          <p:cNvSpPr/>
          <p:nvPr/>
        </p:nvSpPr>
        <p:spPr>
          <a:xfrm>
            <a:off x="5115465" y="2510286"/>
            <a:ext cx="1380226" cy="66423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结果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6495691" y="2320505"/>
            <a:ext cx="1509623" cy="1043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好友推荐、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广告投放、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热点分析等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115465" y="3670765"/>
            <a:ext cx="1509623" cy="1043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广告</a:t>
            </a:r>
            <a:r>
              <a:rPr lang="zh-CN" altLang="en-US" dirty="0" smtClean="0">
                <a:solidFill>
                  <a:schemeClr val="tx1"/>
                </a:solidFill>
              </a:rPr>
              <a:t>商、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Facebook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其它用户等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0" name="圆角右箭头 19"/>
          <p:cNvSpPr/>
          <p:nvPr/>
        </p:nvSpPr>
        <p:spPr>
          <a:xfrm rot="16200000">
            <a:off x="4088922" y="3269411"/>
            <a:ext cx="931654" cy="1121434"/>
          </a:xfrm>
          <a:prstGeom prst="ben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发起</a:t>
            </a: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02" y="4255925"/>
            <a:ext cx="2218246" cy="2218246"/>
          </a:xfrm>
          <a:prstGeom prst="rect">
            <a:avLst/>
          </a:prstGeom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13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分布式流处理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气候监测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dirty="0"/>
              <a:t>特点</a:t>
            </a:r>
            <a:endParaRPr lang="en-US" altLang="zh-CN" dirty="0"/>
          </a:p>
          <a:p>
            <a:pPr lvl="1"/>
            <a:r>
              <a:rPr lang="zh-CN" altLang="en-US" dirty="0"/>
              <a:t>数据量大</a:t>
            </a:r>
            <a:endParaRPr lang="en-US" altLang="zh-CN" dirty="0"/>
          </a:p>
          <a:p>
            <a:pPr lvl="1"/>
            <a:r>
              <a:rPr lang="zh-CN" altLang="en-US" dirty="0"/>
              <a:t>计算资源有限</a:t>
            </a:r>
            <a:endParaRPr lang="en-US" altLang="zh-CN" dirty="0"/>
          </a:p>
          <a:p>
            <a:pPr lvl="1"/>
            <a:r>
              <a:rPr lang="zh-CN" altLang="en-US" dirty="0"/>
              <a:t>实时性要求高</a:t>
            </a:r>
            <a:endParaRPr lang="en-US" altLang="zh-CN" dirty="0"/>
          </a:p>
          <a:p>
            <a:pPr lvl="1"/>
            <a:r>
              <a:rPr lang="zh-CN" altLang="en-US" dirty="0"/>
              <a:t>查询是长时间的或者永久的</a:t>
            </a:r>
            <a:endParaRPr lang="en-US" altLang="zh-CN" dirty="0"/>
          </a:p>
          <a:p>
            <a:pPr lvl="1"/>
            <a:r>
              <a:rPr lang="zh-CN" altLang="en-US" dirty="0"/>
              <a:t>查询量大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499917" y="6488668"/>
            <a:ext cx="5969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操作感知的分布式流处理质量控制研究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715993" y="2320505"/>
            <a:ext cx="1509623" cy="1043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数据采集传感器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2225616" y="2510286"/>
            <a:ext cx="1380226" cy="66423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数据流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605842" y="2320505"/>
            <a:ext cx="1509623" cy="1043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查询</a:t>
            </a:r>
          </a:p>
        </p:txBody>
      </p:sp>
      <p:sp>
        <p:nvSpPr>
          <p:cNvPr id="11" name="右箭头 10"/>
          <p:cNvSpPr/>
          <p:nvPr/>
        </p:nvSpPr>
        <p:spPr>
          <a:xfrm>
            <a:off x="5115465" y="2510286"/>
            <a:ext cx="1380226" cy="66423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结果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圆角矩形 11"/>
              <p:cNvSpPr/>
              <p:nvPr/>
            </p:nvSpPr>
            <p:spPr>
              <a:xfrm>
                <a:off x="6495691" y="2320505"/>
                <a:ext cx="1509623" cy="10437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 smtClean="0">
                    <a:solidFill>
                      <a:schemeClr val="tx1"/>
                    </a:solidFill>
                  </a:rPr>
                  <a:t>气温、</a:t>
                </a:r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dirty="0" smtClean="0">
                    <a:solidFill>
                      <a:schemeClr val="tx1"/>
                    </a:solidFill>
                  </a:rPr>
                  <a:t>降水量、</a:t>
                </a:r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</a:rPr>
                  <a:t>浓度等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圆角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691" y="2320505"/>
                <a:ext cx="1509623" cy="1043796"/>
              </a:xfrm>
              <a:prstGeom prst="roundRect">
                <a:avLst/>
              </a:prstGeom>
              <a:blipFill rotWithShape="0">
                <a:blip r:embed="rId4"/>
                <a:stretch>
                  <a:fillRect b="-5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圆角矩形 13"/>
          <p:cNvSpPr/>
          <p:nvPr/>
        </p:nvSpPr>
        <p:spPr>
          <a:xfrm>
            <a:off x="5115465" y="3670765"/>
            <a:ext cx="1509623" cy="10437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气象</a:t>
            </a:r>
            <a:r>
              <a:rPr lang="zh-CN" altLang="en-US" dirty="0" smtClean="0">
                <a:solidFill>
                  <a:schemeClr val="tx1"/>
                </a:solidFill>
              </a:rPr>
              <a:t>部门、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科研</a:t>
            </a:r>
            <a:r>
              <a:rPr lang="zh-CN" altLang="en-US" dirty="0" smtClean="0">
                <a:solidFill>
                  <a:schemeClr val="tx1"/>
                </a:solidFill>
              </a:rPr>
              <a:t>机构、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其它</a:t>
            </a:r>
            <a:r>
              <a:rPr lang="zh-CN" altLang="en-US" dirty="0" smtClean="0">
                <a:solidFill>
                  <a:schemeClr val="tx1"/>
                </a:solidFill>
              </a:rPr>
              <a:t>用户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圆角右箭头 19"/>
          <p:cNvSpPr/>
          <p:nvPr/>
        </p:nvSpPr>
        <p:spPr>
          <a:xfrm rot="16200000">
            <a:off x="4088922" y="3269411"/>
            <a:ext cx="931654" cy="1121434"/>
          </a:xfrm>
          <a:prstGeom prst="ben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发起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51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分布式流处理的质量控制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Overload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根据经济学中的公地悲剧（</a:t>
            </a:r>
            <a:r>
              <a:rPr lang="en-US" altLang="zh-CN" dirty="0" smtClean="0"/>
              <a:t>Tragedy Of The Commons</a:t>
            </a:r>
            <a:r>
              <a:rPr lang="zh-CN" altLang="en-US" dirty="0" smtClean="0"/>
              <a:t>），系统的资源将被耗尽，这时系统该如何处理查询？</a:t>
            </a:r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499917" y="6488668"/>
            <a:ext cx="5969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操作感知的分布式流处理质量控制研究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286" y="3597214"/>
            <a:ext cx="3839713" cy="287978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4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分布式流处理的质量控制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Load Shedding</a:t>
            </a:r>
          </a:p>
          <a:p>
            <a:pPr lvl="1"/>
            <a:r>
              <a:rPr lang="zh-CN" altLang="en-US" dirty="0" smtClean="0"/>
              <a:t>通过在每个节点的输入流位置丢掉一部分元组，使计算节点的处理能力和输入元组速率一致</a:t>
            </a:r>
            <a:endParaRPr lang="en-US" altLang="zh-CN" dirty="0"/>
          </a:p>
          <a:p>
            <a:r>
              <a:rPr lang="en-US" altLang="zh-CN" dirty="0" smtClean="0"/>
              <a:t>Quality Control</a:t>
            </a:r>
          </a:p>
          <a:p>
            <a:pPr lvl="1"/>
            <a:r>
              <a:rPr lang="zh-CN" altLang="en-US" dirty="0" smtClean="0"/>
              <a:t>这样得到的</a:t>
            </a:r>
            <a:r>
              <a:rPr lang="zh-CN" altLang="en-US" dirty="0" smtClean="0"/>
              <a:t>是降级的</a:t>
            </a:r>
            <a:r>
              <a:rPr lang="zh-CN" altLang="en-US" dirty="0" smtClean="0"/>
              <a:t>查询结果</a:t>
            </a:r>
            <a:r>
              <a:rPr lang="zh-CN" altLang="en-US" dirty="0" smtClean="0"/>
              <a:t>，</a:t>
            </a:r>
            <a:r>
              <a:rPr lang="zh-CN" altLang="en-US" dirty="0" smtClean="0"/>
              <a:t>根据查询的质量要求为每个查询分配相应的元组丢弃数目</a:t>
            </a:r>
            <a:endParaRPr lang="zh-CN" altLang="en-US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499917" y="6488668"/>
            <a:ext cx="5969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操作感知的分布式流处理质量控制研究</a:t>
            </a:r>
          </a:p>
        </p:txBody>
      </p:sp>
      <p:sp>
        <p:nvSpPr>
          <p:cNvPr id="7" name="矩形 6"/>
          <p:cNvSpPr/>
          <p:nvPr/>
        </p:nvSpPr>
        <p:spPr>
          <a:xfrm>
            <a:off x="4186680" y="2145557"/>
            <a:ext cx="3563332" cy="11918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椭圆 7"/>
              <p:cNvSpPr/>
              <p:nvPr/>
            </p:nvSpPr>
            <p:spPr>
              <a:xfrm>
                <a:off x="4490694" y="2517314"/>
                <a:ext cx="367645" cy="3676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35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8" name="椭圆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694" y="2517314"/>
                <a:ext cx="367645" cy="367646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/>
          <p:cNvCxnSpPr/>
          <p:nvPr/>
        </p:nvCxnSpPr>
        <p:spPr>
          <a:xfrm>
            <a:off x="4858339" y="2715277"/>
            <a:ext cx="4736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椭圆 9"/>
              <p:cNvSpPr/>
              <p:nvPr/>
            </p:nvSpPr>
            <p:spPr>
              <a:xfrm>
                <a:off x="5324966" y="2517314"/>
                <a:ext cx="367645" cy="3676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35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10" name="椭圆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966" y="2517314"/>
                <a:ext cx="367645" cy="367646"/>
              </a:xfrm>
              <a:prstGeom prst="ellipse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椭圆 10"/>
              <p:cNvSpPr/>
              <p:nvPr/>
            </p:nvSpPr>
            <p:spPr>
              <a:xfrm>
                <a:off x="6159237" y="2282890"/>
                <a:ext cx="367645" cy="3676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35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11" name="椭圆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237" y="2282890"/>
                <a:ext cx="367645" cy="367646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椭圆 11"/>
              <p:cNvSpPr/>
              <p:nvPr/>
            </p:nvSpPr>
            <p:spPr>
              <a:xfrm>
                <a:off x="6180449" y="2833738"/>
                <a:ext cx="367645" cy="3676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35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12" name="椭圆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449" y="2833738"/>
                <a:ext cx="367645" cy="367646"/>
              </a:xfrm>
              <a:prstGeom prst="ellipse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椭圆 12"/>
              <p:cNvSpPr/>
              <p:nvPr/>
            </p:nvSpPr>
            <p:spPr>
              <a:xfrm>
                <a:off x="6982584" y="2517314"/>
                <a:ext cx="367645" cy="3676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35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13" name="椭圆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584" y="2517314"/>
                <a:ext cx="367645" cy="367646"/>
              </a:xfrm>
              <a:prstGeom prst="ellipse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/>
          <p:cNvCxnSpPr>
            <a:stCxn id="11" idx="6"/>
            <a:endCxn id="13" idx="2"/>
          </p:cNvCxnSpPr>
          <p:nvPr/>
        </p:nvCxnSpPr>
        <p:spPr>
          <a:xfrm>
            <a:off x="6526882" y="2466713"/>
            <a:ext cx="455702" cy="234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13" idx="2"/>
          </p:cNvCxnSpPr>
          <p:nvPr/>
        </p:nvCxnSpPr>
        <p:spPr>
          <a:xfrm flipV="1">
            <a:off x="6570911" y="2701137"/>
            <a:ext cx="411673" cy="322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0" idx="6"/>
            <a:endCxn id="11" idx="2"/>
          </p:cNvCxnSpPr>
          <p:nvPr/>
        </p:nvCxnSpPr>
        <p:spPr>
          <a:xfrm flipV="1">
            <a:off x="5692611" y="2466713"/>
            <a:ext cx="466627" cy="234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12" idx="2"/>
          </p:cNvCxnSpPr>
          <p:nvPr/>
        </p:nvCxnSpPr>
        <p:spPr>
          <a:xfrm>
            <a:off x="5713527" y="2708207"/>
            <a:ext cx="466922" cy="309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686085" y="2424253"/>
            <a:ext cx="1054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输出结果</a:t>
            </a:r>
            <a:endParaRPr lang="zh-CN" altLang="en-US" sz="1400" dirty="0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7403576" y="2701137"/>
            <a:ext cx="11807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3364330" y="2430036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输入元组</a:t>
            </a:r>
            <a:endParaRPr lang="en-US" altLang="zh-CN" sz="1400" dirty="0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3309986" y="2701137"/>
            <a:ext cx="11807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538159" y="1690689"/>
            <a:ext cx="78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Node</a:t>
            </a:r>
            <a:endParaRPr lang="zh-CN" altLang="en-US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25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操作感知的分布式流处理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质量控制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操作分类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计数</a:t>
            </a:r>
            <a:r>
              <a:rPr lang="zh-CN" altLang="en-US" dirty="0" smtClean="0"/>
              <a:t>、平均值等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Join</a:t>
            </a:r>
            <a:r>
              <a:rPr lang="zh-CN" altLang="en-US" dirty="0" smtClean="0"/>
              <a:t>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用户</a:t>
            </a:r>
            <a:r>
              <a:rPr lang="zh-CN" altLang="en-US" dirty="0" smtClean="0"/>
              <a:t>自定义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zh-CN" altLang="en-US" dirty="0" smtClean="0"/>
              <a:t>目的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在系统过载的状态下，为所有节点上的所有查询的相应操作分配相应的元组丢弃数目，在查询实时性得到保证的前提下得到可接受的降级的查询结果。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499917" y="6488668"/>
            <a:ext cx="5969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操作感知的分布式流处理质量控制研究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593" y="2002394"/>
            <a:ext cx="3169757" cy="2191437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96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844518"/>
            <a:ext cx="7886700" cy="831657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二</a:t>
            </a:r>
            <a:r>
              <a:rPr lang="zh-CN" altLang="en-US" dirty="0" smtClean="0"/>
              <a:t>、研究现状</a:t>
            </a:r>
            <a:endParaRPr lang="zh-CN" altLang="en-US" dirty="0"/>
          </a:p>
        </p:txBody>
      </p:sp>
      <p:pic>
        <p:nvPicPr>
          <p:cNvPr id="9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76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7"/>
    </mc:Choice>
    <mc:Fallback xmlns="">
      <p:transition spd="slow" advTm="157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研究现状</a:t>
            </a:r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99917" y="6488668"/>
            <a:ext cx="5969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操作感知的分布式流处理质量控制研究</a:t>
            </a:r>
          </a:p>
        </p:txBody>
      </p:sp>
      <p:graphicFrame>
        <p:nvGraphicFramePr>
          <p:cNvPr id="15" name="内容占位符 1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802137"/>
              </p:ext>
            </p:extLst>
          </p:nvPr>
        </p:nvGraphicFramePr>
        <p:xfrm>
          <a:off x="628650" y="1825625"/>
          <a:ext cx="773034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3131"/>
                <a:gridCol w="879894"/>
                <a:gridCol w="923027"/>
                <a:gridCol w="879894"/>
                <a:gridCol w="914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论文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会议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zh-CN" altLang="en-US" dirty="0" smtClean="0"/>
                        <a:t>时间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分布式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操作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zh-CN" altLang="en-US" dirty="0" smtClean="0"/>
                        <a:t>感知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质量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zh-CN" altLang="en-US" dirty="0" smtClean="0"/>
                        <a:t>控制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Load Shedding in a Data Stream Manager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VLDB, 2003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吞吐率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Window-Aware Load Shedding for Aggregation Queries over Data Stream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VLDB, 2006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Aggregation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吞吐率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An Adaptive, Multiway, Windowed Stream Join with Time Correlation-Aware CPU Load Shedding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TKED, 2007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Join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吞吐率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Knowing When You’re Wrong: Building Fast and Reliable Approximate Query Processing Systems</a:t>
                      </a:r>
                      <a:endParaRPr lang="zh-CN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VLDB, 2014</a:t>
                      </a:r>
                      <a:endParaRPr lang="zh-CN" altLang="en-US" dirty="0" smtClean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标准差、方差</a:t>
                      </a:r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THEMIS: Fairness in Federated Stream Processing under Overload. </a:t>
                      </a:r>
                      <a:endParaRPr lang="zh-CN" altLang="zh-CN" sz="1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SIGMOD, 2016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查询质量的公平性</a:t>
                      </a:r>
                      <a:endParaRPr lang="zh-CN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764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550"/>
    </mc:Choice>
    <mc:Fallback xmlns="">
      <p:transition spd="slow" advTm="14355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研究现状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模型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质量控制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操作感知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499" y="1284063"/>
            <a:ext cx="5976866" cy="470823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700732" y="6112458"/>
            <a:ext cx="5210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THEMIS</a:t>
            </a:r>
            <a:r>
              <a:rPr lang="en-US" altLang="zh-CN" sz="1200" dirty="0"/>
              <a:t>: Fairness in Federated Stream Processing under </a:t>
            </a:r>
            <a:r>
              <a:rPr lang="en-US" altLang="zh-CN" sz="1200" dirty="0" smtClean="0"/>
              <a:t>Overload. </a:t>
            </a:r>
            <a:r>
              <a:rPr lang="en-US" altLang="zh-CN" sz="1200" dirty="0"/>
              <a:t>SIGMOD, 2016</a:t>
            </a:r>
            <a:endParaRPr lang="zh-CN" altLang="zh-CN" sz="1200" dirty="0"/>
          </a:p>
        </p:txBody>
      </p:sp>
      <p:sp>
        <p:nvSpPr>
          <p:cNvPr id="14" name="文本框 13"/>
          <p:cNvSpPr txBox="1"/>
          <p:nvPr/>
        </p:nvSpPr>
        <p:spPr>
          <a:xfrm>
            <a:off x="2538484" y="2521944"/>
            <a:ext cx="438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</a:rPr>
              <a:t>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499917" y="6488668"/>
            <a:ext cx="5969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操作感知的分布式流处理质量控制研究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338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676"/>
    </mc:Choice>
    <mc:Fallback xmlns="">
      <p:transition spd="slow" advTm="1616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844518"/>
            <a:ext cx="7886700" cy="831657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 smtClean="0"/>
              <a:t>三、研究方案</a:t>
            </a:r>
            <a:endParaRPr lang="zh-CN" altLang="en-US" dirty="0"/>
          </a:p>
        </p:txBody>
      </p:sp>
      <p:pic>
        <p:nvPicPr>
          <p:cNvPr id="9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85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7"/>
    </mc:Choice>
    <mc:Fallback xmlns="">
      <p:transition spd="slow" advTm="1577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研究方案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499917" y="6488668"/>
            <a:ext cx="5969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操作感知的分布式流处理质量控制研究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3324591" y="2764541"/>
            <a:ext cx="1219200" cy="1905000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3743691" y="3781884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/>
          <p:cNvSpPr/>
          <p:nvPr/>
        </p:nvSpPr>
        <p:spPr>
          <a:xfrm>
            <a:off x="3743691" y="3025019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3705591" y="2380891"/>
            <a:ext cx="685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/>
              <a:t>nodeA</a:t>
            </a:r>
            <a:endParaRPr lang="zh-CN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本框 96"/>
              <p:cNvSpPr txBox="1"/>
              <p:nvPr/>
            </p:nvSpPr>
            <p:spPr>
              <a:xfrm>
                <a:off x="4124691" y="3371491"/>
                <a:ext cx="419100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7" name="文本框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691" y="3371491"/>
                <a:ext cx="419100" cy="370294"/>
              </a:xfrm>
              <a:prstGeom prst="rect">
                <a:avLst/>
              </a:prstGeom>
              <a:blipFill rotWithShape="0">
                <a:blip r:embed="rId4"/>
                <a:stretch>
                  <a:fillRect r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本框 97"/>
              <p:cNvSpPr txBox="1"/>
              <p:nvPr/>
            </p:nvSpPr>
            <p:spPr>
              <a:xfrm>
                <a:off x="4129992" y="4106385"/>
                <a:ext cx="419100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8" name="文本框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92" y="4106385"/>
                <a:ext cx="419100" cy="370294"/>
              </a:xfrm>
              <a:prstGeom prst="rect">
                <a:avLst/>
              </a:prstGeom>
              <a:blipFill rotWithShape="0">
                <a:blip r:embed="rId5"/>
                <a:stretch>
                  <a:fillRect r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文本框 98"/>
              <p:cNvSpPr txBox="1"/>
              <p:nvPr/>
            </p:nvSpPr>
            <p:spPr>
              <a:xfrm>
                <a:off x="3793056" y="4398121"/>
                <a:ext cx="38630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9" name="文本框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056" y="4398121"/>
                <a:ext cx="386301" cy="37029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矩形 99"/>
          <p:cNvSpPr/>
          <p:nvPr/>
        </p:nvSpPr>
        <p:spPr>
          <a:xfrm>
            <a:off x="6249132" y="2764541"/>
            <a:ext cx="1219200" cy="1905000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/>
          <p:cNvSpPr/>
          <p:nvPr/>
        </p:nvSpPr>
        <p:spPr>
          <a:xfrm>
            <a:off x="6592033" y="3025019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/>
          <p:cNvSpPr/>
          <p:nvPr/>
        </p:nvSpPr>
        <p:spPr>
          <a:xfrm>
            <a:off x="6592033" y="3800344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6439633" y="2390721"/>
            <a:ext cx="685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/>
              <a:t>nodeB</a:t>
            </a:r>
            <a:endParaRPr lang="zh-CN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文本框 103"/>
              <p:cNvSpPr txBox="1"/>
              <p:nvPr/>
            </p:nvSpPr>
            <p:spPr>
              <a:xfrm>
                <a:off x="6973033" y="3411590"/>
                <a:ext cx="419100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4" name="文本框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033" y="3411590"/>
                <a:ext cx="419100" cy="370294"/>
              </a:xfrm>
              <a:prstGeom prst="rect">
                <a:avLst/>
              </a:prstGeom>
              <a:blipFill rotWithShape="0">
                <a:blip r:embed="rId7"/>
                <a:stretch>
                  <a:fillRect r="-15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文本框 104"/>
              <p:cNvSpPr txBox="1"/>
              <p:nvPr/>
            </p:nvSpPr>
            <p:spPr>
              <a:xfrm>
                <a:off x="6973033" y="4100660"/>
                <a:ext cx="419100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5" name="文本框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033" y="4100660"/>
                <a:ext cx="419100" cy="370294"/>
              </a:xfrm>
              <a:prstGeom prst="rect">
                <a:avLst/>
              </a:prstGeom>
              <a:blipFill rotWithShape="0">
                <a:blip r:embed="rId8"/>
                <a:stretch>
                  <a:fillRect r="-15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本框 105"/>
              <p:cNvSpPr txBox="1"/>
              <p:nvPr/>
            </p:nvSpPr>
            <p:spPr>
              <a:xfrm>
                <a:off x="6586732" y="4327356"/>
                <a:ext cx="38630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6" name="文本框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732" y="4327356"/>
                <a:ext cx="386301" cy="37029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椭圆 119"/>
          <p:cNvSpPr/>
          <p:nvPr/>
        </p:nvSpPr>
        <p:spPr>
          <a:xfrm>
            <a:off x="2329531" y="3010849"/>
            <a:ext cx="381000" cy="381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/>
          <p:cNvSpPr/>
          <p:nvPr/>
        </p:nvSpPr>
        <p:spPr>
          <a:xfrm>
            <a:off x="2329531" y="3800344"/>
            <a:ext cx="381000" cy="381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/>
          <p:cNvSpPr/>
          <p:nvPr/>
        </p:nvSpPr>
        <p:spPr>
          <a:xfrm>
            <a:off x="5202114" y="3025019"/>
            <a:ext cx="381000" cy="381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/>
          <p:cNvSpPr/>
          <p:nvPr/>
        </p:nvSpPr>
        <p:spPr>
          <a:xfrm>
            <a:off x="5202114" y="3781884"/>
            <a:ext cx="381000" cy="381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7" name="直接箭头连接符 126"/>
          <p:cNvCxnSpPr/>
          <p:nvPr/>
        </p:nvCxnSpPr>
        <p:spPr>
          <a:xfrm>
            <a:off x="1317652" y="3221624"/>
            <a:ext cx="1033160" cy="1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>
            <a:off x="2715095" y="3231139"/>
            <a:ext cx="1033160" cy="1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/>
          <p:nvPr/>
        </p:nvCxnSpPr>
        <p:spPr>
          <a:xfrm>
            <a:off x="4164124" y="3231139"/>
            <a:ext cx="1033160" cy="1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/>
          <p:cNvCxnSpPr/>
          <p:nvPr/>
        </p:nvCxnSpPr>
        <p:spPr>
          <a:xfrm>
            <a:off x="5580154" y="3214539"/>
            <a:ext cx="1033160" cy="1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>
            <a:off x="6985327" y="3230947"/>
            <a:ext cx="1033160" cy="1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1317652" y="3955544"/>
            <a:ext cx="1033160" cy="1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/>
        </p:nvCxnSpPr>
        <p:spPr>
          <a:xfrm>
            <a:off x="2715095" y="3965059"/>
            <a:ext cx="1033160" cy="1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/>
          <p:nvPr/>
        </p:nvCxnSpPr>
        <p:spPr>
          <a:xfrm>
            <a:off x="4164124" y="3965059"/>
            <a:ext cx="1033160" cy="1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>
            <a:off x="5580154" y="3948459"/>
            <a:ext cx="1033160" cy="1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/>
          <p:nvPr/>
        </p:nvCxnSpPr>
        <p:spPr>
          <a:xfrm>
            <a:off x="6985327" y="3964867"/>
            <a:ext cx="1033160" cy="1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本框 141"/>
          <p:cNvSpPr txBox="1"/>
          <p:nvPr/>
        </p:nvSpPr>
        <p:spPr>
          <a:xfrm>
            <a:off x="1030537" y="2937770"/>
            <a:ext cx="879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输入元组</a:t>
            </a:r>
            <a:endParaRPr lang="zh-CN" altLang="en-US" sz="1200" dirty="0"/>
          </a:p>
        </p:txBody>
      </p:sp>
      <p:sp>
        <p:nvSpPr>
          <p:cNvPr id="144" name="文本框 143"/>
          <p:cNvSpPr txBox="1"/>
          <p:nvPr/>
        </p:nvSpPr>
        <p:spPr>
          <a:xfrm>
            <a:off x="1030537" y="3688877"/>
            <a:ext cx="879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输入元组</a:t>
            </a:r>
            <a:endParaRPr lang="zh-CN" altLang="en-US" sz="1200" dirty="0"/>
          </a:p>
        </p:txBody>
      </p:sp>
      <p:sp>
        <p:nvSpPr>
          <p:cNvPr id="145" name="椭圆 144"/>
          <p:cNvSpPr/>
          <p:nvPr/>
        </p:nvSpPr>
        <p:spPr>
          <a:xfrm>
            <a:off x="6216166" y="1921821"/>
            <a:ext cx="381000" cy="381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文本框 145"/>
          <p:cNvSpPr txBox="1"/>
          <p:nvPr/>
        </p:nvSpPr>
        <p:spPr>
          <a:xfrm>
            <a:off x="6779882" y="1955231"/>
            <a:ext cx="11391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/>
              <a:t>实现元组丢弃</a:t>
            </a:r>
            <a:endParaRPr lang="zh-CN" altLang="en-US" sz="1100" dirty="0"/>
          </a:p>
        </p:txBody>
      </p:sp>
      <p:sp>
        <p:nvSpPr>
          <p:cNvPr id="147" name="文本框 146"/>
          <p:cNvSpPr txBox="1"/>
          <p:nvPr/>
        </p:nvSpPr>
        <p:spPr>
          <a:xfrm>
            <a:off x="7674889" y="2962309"/>
            <a:ext cx="879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输出结果</a:t>
            </a:r>
            <a:endParaRPr lang="zh-CN" altLang="en-US" sz="1200" dirty="0"/>
          </a:p>
        </p:txBody>
      </p:sp>
      <p:sp>
        <p:nvSpPr>
          <p:cNvPr id="148" name="文本框 147"/>
          <p:cNvSpPr txBox="1"/>
          <p:nvPr/>
        </p:nvSpPr>
        <p:spPr>
          <a:xfrm>
            <a:off x="7673556" y="3685630"/>
            <a:ext cx="879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输出结果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0599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研究方案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通过训练集，为查询建模，量化由不同操作组成的查询对查询质量的影响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设计分布式算法来实现元组丢弃的分配实现查询的质量控制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endParaRPr lang="zh-CN" altLang="en-US" sz="24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119352" y="3124200"/>
            <a:ext cx="1085850" cy="108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查询质量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5423902" y="2037000"/>
            <a:ext cx="1085850" cy="108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操作丢弃元组的数目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5423902" y="4211400"/>
            <a:ext cx="1085850" cy="108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查询</a:t>
            </a:r>
            <a:r>
              <a:rPr lang="zh-CN" altLang="en-US" sz="1400" dirty="0" smtClean="0">
                <a:solidFill>
                  <a:schemeClr val="tx1"/>
                </a:solidFill>
              </a:rPr>
              <a:t>中操作的组成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5423902" y="3124200"/>
            <a:ext cx="1085850" cy="108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操作类型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endCxn id="6" idx="1"/>
          </p:cNvCxnSpPr>
          <p:nvPr/>
        </p:nvCxnSpPr>
        <p:spPr>
          <a:xfrm>
            <a:off x="6509752" y="2580600"/>
            <a:ext cx="768619" cy="702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6"/>
            <a:endCxn id="6" idx="3"/>
          </p:cNvCxnSpPr>
          <p:nvPr/>
        </p:nvCxnSpPr>
        <p:spPr>
          <a:xfrm flipV="1">
            <a:off x="6509752" y="4052183"/>
            <a:ext cx="768619" cy="702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9" idx="6"/>
          </p:cNvCxnSpPr>
          <p:nvPr/>
        </p:nvCxnSpPr>
        <p:spPr>
          <a:xfrm>
            <a:off x="6509752" y="366780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350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844518"/>
            <a:ext cx="7886700" cy="831657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 smtClean="0"/>
              <a:t>四、预期成果</a:t>
            </a:r>
            <a:endParaRPr lang="zh-CN" altLang="en-US" dirty="0"/>
          </a:p>
        </p:txBody>
      </p:sp>
      <p:pic>
        <p:nvPicPr>
          <p:cNvPr id="9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2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7"/>
    </mc:Choice>
    <mc:Fallback xmlns="">
      <p:transition spd="slow" advTm="1577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预期成果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评测</a:t>
            </a:r>
            <a:r>
              <a:rPr lang="zh-CN" altLang="en-US" dirty="0" smtClean="0"/>
              <a:t>指标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通过测试集验证模型的有效性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比较该方法与</a:t>
            </a:r>
            <a:r>
              <a:rPr lang="en-US" altLang="zh-CN" dirty="0" smtClean="0"/>
              <a:t>Random Shedding</a:t>
            </a:r>
            <a:r>
              <a:rPr lang="zh-CN" altLang="en-US" dirty="0" smtClean="0"/>
              <a:t>在质量控制性能上差异</a:t>
            </a:r>
            <a:endParaRPr lang="en-US" altLang="zh-CN" dirty="0"/>
          </a:p>
          <a:p>
            <a:pPr lvl="1"/>
            <a:endParaRPr lang="en-US" altLang="zh-CN" dirty="0" smtClean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 smtClean="0"/>
              <a:t>专利</a:t>
            </a:r>
            <a:endParaRPr lang="en-US" altLang="zh-CN" dirty="0" smtClean="0"/>
          </a:p>
          <a:p>
            <a:pPr lvl="1"/>
            <a:r>
              <a:rPr lang="zh-CN" altLang="en-US" dirty="0"/>
              <a:t>操作感知的分布式流处理质量控制研究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499917" y="6488668"/>
            <a:ext cx="5969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操作感知的分布式流处理质量控制研究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FE1EA-9A1D-40B7-8DCD-A2E79638397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48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844518"/>
            <a:ext cx="7886700" cy="831657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五</a:t>
            </a:r>
            <a:r>
              <a:rPr lang="zh-CN" altLang="en-US" dirty="0" smtClean="0"/>
              <a:t>、进度安排</a:t>
            </a:r>
            <a:endParaRPr lang="zh-CN" altLang="en-US" dirty="0"/>
          </a:p>
        </p:txBody>
      </p:sp>
      <p:pic>
        <p:nvPicPr>
          <p:cNvPr id="9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1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7"/>
    </mc:Choice>
    <mc:Fallback xmlns="">
      <p:transition spd="slow" advTm="1577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进度安排</a:t>
            </a:r>
            <a:endParaRPr lang="zh-CN" altLang="en-US" dirty="0"/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714601"/>
              </p:ext>
            </p:extLst>
          </p:nvPr>
        </p:nvGraphicFramePr>
        <p:xfrm>
          <a:off x="628649" y="1825624"/>
          <a:ext cx="6919463" cy="2996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图片 13" descr="SCTSs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99917" y="6488668"/>
            <a:ext cx="5969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操作感知的分布式流处理质量控制研究</a:t>
            </a:r>
          </a:p>
        </p:txBody>
      </p:sp>
    </p:spTree>
    <p:extLst>
      <p:ext uri="{BB962C8B-B14F-4D97-AF65-F5344CB8AC3E}">
        <p14:creationId xmlns:p14="http://schemas.microsoft.com/office/powerpoint/2010/main" val="31964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3" descr="SCTS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21" y="0"/>
            <a:ext cx="1031081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Key Laboratory of Cluster and Grid Comput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202" y="0"/>
            <a:ext cx="919163" cy="63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40280" y="2320506"/>
            <a:ext cx="707366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</a:rPr>
              <a:t>请各位老师批评指正</a:t>
            </a:r>
            <a:endParaRPr lang="zh-CN" altLang="en-US" sz="6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77C4F-1B95-4166-9B38-E3B757F78B6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54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3.2|8.3|1.7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576</TotalTime>
  <Words>634</Words>
  <Application>Microsoft Office PowerPoint</Application>
  <PresentationFormat>全屏显示(4:3)</PresentationFormat>
  <Paragraphs>187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宋体</vt:lpstr>
      <vt:lpstr>Arial</vt:lpstr>
      <vt:lpstr>Calibri</vt:lpstr>
      <vt:lpstr>Calibri Light</vt:lpstr>
      <vt:lpstr>Cambria Math</vt:lpstr>
      <vt:lpstr>Office 主题</vt:lpstr>
      <vt:lpstr>操作感知的分布式流处理质量控制研究</vt:lpstr>
      <vt:lpstr>目录</vt:lpstr>
      <vt:lpstr>一、研究背景与目的</vt:lpstr>
      <vt:lpstr>分布式流处理</vt:lpstr>
      <vt:lpstr>分布式流处理</vt:lpstr>
      <vt:lpstr>分布式流处理的质量控制</vt:lpstr>
      <vt:lpstr>分布式流处理的质量控制</vt:lpstr>
      <vt:lpstr>操作感知的分布式流处理 质量控制</vt:lpstr>
      <vt:lpstr>二、研究现状</vt:lpstr>
      <vt:lpstr>研究现状</vt:lpstr>
      <vt:lpstr>研究现状</vt:lpstr>
      <vt:lpstr>三、研究方案</vt:lpstr>
      <vt:lpstr>研究方案</vt:lpstr>
      <vt:lpstr>研究方案</vt:lpstr>
      <vt:lpstr>四、预期成果</vt:lpstr>
      <vt:lpstr>预期成果</vt:lpstr>
      <vt:lpstr>五、进度安排</vt:lpstr>
      <vt:lpstr>进度安排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操作感知的分布式流处理质量控制研究</dc:title>
  <dc:creator>王飞越</dc:creator>
  <cp:lastModifiedBy>王飞越</cp:lastModifiedBy>
  <cp:revision>37</cp:revision>
  <dcterms:created xsi:type="dcterms:W3CDTF">2017-02-26T13:52:13Z</dcterms:created>
  <dcterms:modified xsi:type="dcterms:W3CDTF">2017-02-27T09:20:06Z</dcterms:modified>
</cp:coreProperties>
</file>