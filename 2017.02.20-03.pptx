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69" r:id="rId6"/>
    <p:sldId id="274" r:id="rId7"/>
    <p:sldId id="262" r:id="rId8"/>
    <p:sldId id="270" r:id="rId9"/>
    <p:sldId id="271" r:id="rId10"/>
    <p:sldId id="275" r:id="rId11"/>
    <p:sldId id="273" r:id="rId12"/>
    <p:sldId id="279" r:id="rId13"/>
    <p:sldId id="276" r:id="rId14"/>
    <p:sldId id="280" r:id="rId15"/>
    <p:sldId id="278" r:id="rId16"/>
    <p:sldId id="281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飞越" initials="王飞越" lastIdx="0" clrIdx="0">
    <p:extLst>
      <p:ext uri="{19B8F6BF-5375-455C-9EA6-DF929625EA0E}">
        <p15:presenceInfo xmlns:p15="http://schemas.microsoft.com/office/powerpoint/2012/main" userId="王飞越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5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3C97E-25E0-4BED-AA6A-3B2AE1E3EB2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88EABC2-776C-428D-87C1-D9E3E7912750}">
      <dgm:prSet phldrT="[文本]"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2016.09-2017.01</a:t>
          </a:r>
          <a:r>
            <a:rPr lang="zh-CN" altLang="en-US" dirty="0" smtClean="0">
              <a:solidFill>
                <a:schemeClr val="tx1"/>
              </a:solidFill>
            </a:rPr>
            <a:t>：课题调研，确定研究方案</a:t>
          </a:r>
          <a:r>
            <a:rPr lang="en-US" altLang="zh-CN" dirty="0" smtClean="0">
              <a:solidFill>
                <a:schemeClr val="tx1"/>
              </a:solidFill>
            </a:rPr>
            <a:t> </a:t>
          </a:r>
          <a:endParaRPr lang="zh-CN" altLang="en-US" dirty="0">
            <a:solidFill>
              <a:schemeClr val="tx1"/>
            </a:solidFill>
          </a:endParaRPr>
        </a:p>
      </dgm:t>
    </dgm:pt>
    <dgm:pt modelId="{746E93AF-1A58-4C6E-8154-489F4D04ACDF}" type="parTrans" cxnId="{7E7EB426-4E39-44EC-B20D-066FA77E0F1E}">
      <dgm:prSet/>
      <dgm:spPr/>
      <dgm:t>
        <a:bodyPr/>
        <a:lstStyle/>
        <a:p>
          <a:endParaRPr lang="zh-CN" altLang="en-US"/>
        </a:p>
      </dgm:t>
    </dgm:pt>
    <dgm:pt modelId="{27C2FD5C-EB42-429D-9917-0366DDEB42CA}" type="sibTrans" cxnId="{7E7EB426-4E39-44EC-B20D-066FA77E0F1E}">
      <dgm:prSet/>
      <dgm:spPr/>
      <dgm:t>
        <a:bodyPr/>
        <a:lstStyle/>
        <a:p>
          <a:endParaRPr lang="zh-CN" altLang="en-US"/>
        </a:p>
      </dgm:t>
    </dgm:pt>
    <dgm:pt modelId="{C150FAC3-B102-4924-B100-1BC9FCBCB1A2}">
      <dgm:prSet phldrT="[文本]"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2017.09-2017.10</a:t>
          </a:r>
          <a:r>
            <a:rPr lang="zh-CN" altLang="en-US" dirty="0" smtClean="0">
              <a:solidFill>
                <a:schemeClr val="tx1"/>
              </a:solidFill>
            </a:rPr>
            <a:t>：论文撰写</a:t>
          </a:r>
          <a:endParaRPr lang="zh-CN" altLang="en-US" dirty="0">
            <a:solidFill>
              <a:schemeClr val="tx1"/>
            </a:solidFill>
          </a:endParaRPr>
        </a:p>
      </dgm:t>
    </dgm:pt>
    <dgm:pt modelId="{55CA465D-55D5-4EDB-95AF-70597DC92915}" type="parTrans" cxnId="{AEA7991C-EC9C-4106-BCB8-08B40A8F207B}">
      <dgm:prSet/>
      <dgm:spPr/>
      <dgm:t>
        <a:bodyPr/>
        <a:lstStyle/>
        <a:p>
          <a:endParaRPr lang="zh-CN" altLang="en-US"/>
        </a:p>
      </dgm:t>
    </dgm:pt>
    <dgm:pt modelId="{59C95747-F27C-4B79-A0E5-E28DF95ABC03}" type="sibTrans" cxnId="{AEA7991C-EC9C-4106-BCB8-08B40A8F207B}">
      <dgm:prSet/>
      <dgm:spPr/>
      <dgm:t>
        <a:bodyPr/>
        <a:lstStyle/>
        <a:p>
          <a:endParaRPr lang="zh-CN" altLang="en-US"/>
        </a:p>
      </dgm:t>
    </dgm:pt>
    <dgm:pt modelId="{4E0B9DFA-EB1C-443F-B7CD-0E845895C3A3}">
      <dgm:prSet phldrT="[文本]" phldr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endParaRPr lang="zh-CN" altLang="en-US" dirty="0"/>
        </a:p>
      </dgm:t>
    </dgm:pt>
    <dgm:pt modelId="{C16D1024-EAB8-4C07-879A-1CE668DCA4BC}" type="parTrans" cxnId="{33F4FA54-F93C-495C-84FF-D9049ECE6EDD}">
      <dgm:prSet/>
      <dgm:spPr/>
      <dgm:t>
        <a:bodyPr/>
        <a:lstStyle/>
        <a:p>
          <a:endParaRPr lang="zh-CN" altLang="en-US"/>
        </a:p>
      </dgm:t>
    </dgm:pt>
    <dgm:pt modelId="{843B66B4-217E-4679-A4BE-4C49B59D16D5}" type="sibTrans" cxnId="{33F4FA54-F93C-495C-84FF-D9049ECE6EDD}">
      <dgm:prSet/>
      <dgm:spPr/>
      <dgm:t>
        <a:bodyPr/>
        <a:lstStyle/>
        <a:p>
          <a:endParaRPr lang="zh-CN" altLang="en-US"/>
        </a:p>
      </dgm:t>
    </dgm:pt>
    <dgm:pt modelId="{A7486D04-3FB0-4A7C-BE5D-01E81A7E5C63}">
      <dgm:prSet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2017.05-2017.07</a:t>
          </a:r>
          <a:r>
            <a:rPr lang="zh-CN" altLang="en-US" dirty="0" smtClean="0">
              <a:solidFill>
                <a:schemeClr val="tx1"/>
              </a:solidFill>
            </a:rPr>
            <a:t>：设计实验</a:t>
          </a:r>
          <a:endParaRPr lang="zh-CN" altLang="en-US" dirty="0">
            <a:solidFill>
              <a:schemeClr val="tx1"/>
            </a:solidFill>
          </a:endParaRPr>
        </a:p>
      </dgm:t>
    </dgm:pt>
    <dgm:pt modelId="{DFAFF7DD-E073-4F45-87A6-4A2C27CF0C65}" type="parTrans" cxnId="{69327D32-911D-4D2D-B69A-8FFD5570415F}">
      <dgm:prSet/>
      <dgm:spPr/>
      <dgm:t>
        <a:bodyPr/>
        <a:lstStyle/>
        <a:p>
          <a:endParaRPr lang="zh-CN" altLang="en-US"/>
        </a:p>
      </dgm:t>
    </dgm:pt>
    <dgm:pt modelId="{031794EF-75C0-4501-9DBB-B2D5FF9010BE}" type="sibTrans" cxnId="{69327D32-911D-4D2D-B69A-8FFD5570415F}">
      <dgm:prSet/>
      <dgm:spPr/>
      <dgm:t>
        <a:bodyPr/>
        <a:lstStyle/>
        <a:p>
          <a:endParaRPr lang="zh-CN" altLang="en-US"/>
        </a:p>
      </dgm:t>
    </dgm:pt>
    <dgm:pt modelId="{1F7201F9-085F-429F-B2E0-B0FE05D1F6C9}">
      <dgm:prSet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2017.02-2017.04</a:t>
          </a:r>
          <a:r>
            <a:rPr lang="zh-CN" altLang="en-US" dirty="0" smtClean="0">
              <a:solidFill>
                <a:schemeClr val="tx1"/>
              </a:solidFill>
            </a:rPr>
            <a:t>：</a:t>
          </a:r>
          <a:r>
            <a:rPr lang="en-US" altLang="zh-CN" dirty="0" smtClean="0">
              <a:solidFill>
                <a:schemeClr val="tx1"/>
              </a:solidFill>
            </a:rPr>
            <a:t> </a:t>
          </a:r>
          <a:r>
            <a:rPr lang="zh-CN" altLang="en-US" dirty="0" smtClean="0">
              <a:solidFill>
                <a:schemeClr val="tx1"/>
              </a:solidFill>
            </a:rPr>
            <a:t>算法设计与模型设计</a:t>
          </a:r>
          <a:endParaRPr lang="zh-CN" altLang="en-US" dirty="0">
            <a:solidFill>
              <a:schemeClr val="tx1"/>
            </a:solidFill>
          </a:endParaRPr>
        </a:p>
      </dgm:t>
    </dgm:pt>
    <dgm:pt modelId="{82F1A542-BC53-4887-875B-44AC069AB5EF}" type="parTrans" cxnId="{93306617-4576-499D-932E-E7F02681B29B}">
      <dgm:prSet/>
      <dgm:spPr/>
      <dgm:t>
        <a:bodyPr/>
        <a:lstStyle/>
        <a:p>
          <a:endParaRPr lang="zh-CN" altLang="en-US"/>
        </a:p>
      </dgm:t>
    </dgm:pt>
    <dgm:pt modelId="{1D8EEE9D-9D31-4963-B66C-0B4969D17B2E}" type="sibTrans" cxnId="{93306617-4576-499D-932E-E7F02681B29B}">
      <dgm:prSet/>
      <dgm:spPr/>
      <dgm:t>
        <a:bodyPr/>
        <a:lstStyle/>
        <a:p>
          <a:endParaRPr lang="zh-CN" altLang="en-US"/>
        </a:p>
      </dgm:t>
    </dgm:pt>
    <dgm:pt modelId="{9FB88D17-59DB-443B-AB46-E8732E950877}" type="pres">
      <dgm:prSet presAssocID="{7C23C97E-25E0-4BED-AA6A-3B2AE1E3EB2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5B0D40A-1189-44C0-814B-7870477D94C2}" type="pres">
      <dgm:prSet presAssocID="{7C23C97E-25E0-4BED-AA6A-3B2AE1E3EB2F}" presName="dummyMaxCanvas" presStyleCnt="0">
        <dgm:presLayoutVars/>
      </dgm:prSet>
      <dgm:spPr/>
    </dgm:pt>
    <dgm:pt modelId="{94C0693B-DD99-4B13-9A4D-523968F32AD9}" type="pres">
      <dgm:prSet presAssocID="{7C23C97E-25E0-4BED-AA6A-3B2AE1E3EB2F}" presName="FiveNodes_1" presStyleLbl="node1" presStyleIdx="0" presStyleCnt="5" custLinFactNeighborX="0" custLinFactNeighborY="-732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D7392D-5156-4B5E-B59E-ED88952A03BC}" type="pres">
      <dgm:prSet presAssocID="{7C23C97E-25E0-4BED-AA6A-3B2AE1E3EB2F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6A7201-3F87-47E0-88B4-21B03F1AAEA1}" type="pres">
      <dgm:prSet presAssocID="{7C23C97E-25E0-4BED-AA6A-3B2AE1E3EB2F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563D6D-CBB7-4A0A-80AD-23A759AF2531}" type="pres">
      <dgm:prSet presAssocID="{7C23C97E-25E0-4BED-AA6A-3B2AE1E3EB2F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E8B789C-A1A9-4F21-8657-C9EA0A0612CF}" type="pres">
      <dgm:prSet presAssocID="{7C23C97E-25E0-4BED-AA6A-3B2AE1E3EB2F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7E399FE-B289-4113-8206-6169807BFA51}" type="pres">
      <dgm:prSet presAssocID="{7C23C97E-25E0-4BED-AA6A-3B2AE1E3EB2F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3C8711-322E-43F0-AB96-982ACA096A40}" type="pres">
      <dgm:prSet presAssocID="{7C23C97E-25E0-4BED-AA6A-3B2AE1E3EB2F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D8BC796-886F-4C50-9801-D35FA326B0FF}" type="pres">
      <dgm:prSet presAssocID="{7C23C97E-25E0-4BED-AA6A-3B2AE1E3EB2F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BE15A76-85AB-4023-9D46-E7B7BDAF67B8}" type="pres">
      <dgm:prSet presAssocID="{7C23C97E-25E0-4BED-AA6A-3B2AE1E3EB2F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B3CD19-1480-405C-8CFF-592DB693A692}" type="pres">
      <dgm:prSet presAssocID="{7C23C97E-25E0-4BED-AA6A-3B2AE1E3EB2F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5E933FD-A9EB-4423-AA67-EBD2D6849125}" type="pres">
      <dgm:prSet presAssocID="{7C23C97E-25E0-4BED-AA6A-3B2AE1E3EB2F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C429A44-EE94-40F1-B0A1-7C5EAC3E88EC}" type="pres">
      <dgm:prSet presAssocID="{7C23C97E-25E0-4BED-AA6A-3B2AE1E3EB2F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C1E8DC1-AAFE-410C-B7DD-4A36D1E79802}" type="pres">
      <dgm:prSet presAssocID="{7C23C97E-25E0-4BED-AA6A-3B2AE1E3EB2F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E32E93-2547-4B26-ABEC-701EB21ADE41}" type="pres">
      <dgm:prSet presAssocID="{7C23C97E-25E0-4BED-AA6A-3B2AE1E3EB2F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889FE0E-D27B-4473-AA06-4FC366F47B90}" type="presOf" srcId="{A7486D04-3FB0-4A7C-BE5D-01E81A7E5C63}" destId="{436A7201-3F87-47E0-88B4-21B03F1AAEA1}" srcOrd="0" destOrd="0" presId="urn:microsoft.com/office/officeart/2005/8/layout/vProcess5"/>
    <dgm:cxn modelId="{4E4FED37-A81D-4349-96CA-EFE746668370}" type="presOf" srcId="{27C2FD5C-EB42-429D-9917-0366DDEB42CA}" destId="{D7E399FE-B289-4113-8206-6169807BFA51}" srcOrd="0" destOrd="0" presId="urn:microsoft.com/office/officeart/2005/8/layout/vProcess5"/>
    <dgm:cxn modelId="{930DA931-849C-4A4C-82A6-1F9558A53E64}" type="presOf" srcId="{59C95747-F27C-4B79-A0E5-E28DF95ABC03}" destId="{1BE15A76-85AB-4023-9D46-E7B7BDAF67B8}" srcOrd="0" destOrd="0" presId="urn:microsoft.com/office/officeart/2005/8/layout/vProcess5"/>
    <dgm:cxn modelId="{D7D12D4E-E75C-4841-BFE3-059068B8470A}" type="presOf" srcId="{4E0B9DFA-EB1C-443F-B7CD-0E845895C3A3}" destId="{2E8B789C-A1A9-4F21-8657-C9EA0A0612CF}" srcOrd="0" destOrd="0" presId="urn:microsoft.com/office/officeart/2005/8/layout/vProcess5"/>
    <dgm:cxn modelId="{69269F9E-71C3-405F-B2FD-658700359A2F}" type="presOf" srcId="{1F7201F9-085F-429F-B2E0-B0FE05D1F6C9}" destId="{DFD7392D-5156-4B5E-B59E-ED88952A03BC}" srcOrd="0" destOrd="0" presId="urn:microsoft.com/office/officeart/2005/8/layout/vProcess5"/>
    <dgm:cxn modelId="{A8606B1B-1727-49B8-91DB-52EF6903145A}" type="presOf" srcId="{1F7201F9-085F-429F-B2E0-B0FE05D1F6C9}" destId="{C5E933FD-A9EB-4423-AA67-EBD2D6849125}" srcOrd="1" destOrd="0" presId="urn:microsoft.com/office/officeart/2005/8/layout/vProcess5"/>
    <dgm:cxn modelId="{4B005EF5-2B47-4891-8CBE-C05C6C0B687A}" type="presOf" srcId="{C150FAC3-B102-4924-B100-1BC9FCBCB1A2}" destId="{68563D6D-CBB7-4A0A-80AD-23A759AF2531}" srcOrd="0" destOrd="0" presId="urn:microsoft.com/office/officeart/2005/8/layout/vProcess5"/>
    <dgm:cxn modelId="{074D45F6-BBF8-4A89-AFB3-C3A889823224}" type="presOf" srcId="{588EABC2-776C-428D-87C1-D9E3E7912750}" destId="{BDB3CD19-1480-405C-8CFF-592DB693A692}" srcOrd="1" destOrd="0" presId="urn:microsoft.com/office/officeart/2005/8/layout/vProcess5"/>
    <dgm:cxn modelId="{69327D32-911D-4D2D-B69A-8FFD5570415F}" srcId="{7C23C97E-25E0-4BED-AA6A-3B2AE1E3EB2F}" destId="{A7486D04-3FB0-4A7C-BE5D-01E81A7E5C63}" srcOrd="2" destOrd="0" parTransId="{DFAFF7DD-E073-4F45-87A6-4A2C27CF0C65}" sibTransId="{031794EF-75C0-4501-9DBB-B2D5FF9010BE}"/>
    <dgm:cxn modelId="{0AB79A97-B429-41C2-983F-1B7CBB4AA227}" type="presOf" srcId="{4E0B9DFA-EB1C-443F-B7CD-0E845895C3A3}" destId="{26E32E93-2547-4B26-ABEC-701EB21ADE41}" srcOrd="1" destOrd="0" presId="urn:microsoft.com/office/officeart/2005/8/layout/vProcess5"/>
    <dgm:cxn modelId="{33F4FA54-F93C-495C-84FF-D9049ECE6EDD}" srcId="{7C23C97E-25E0-4BED-AA6A-3B2AE1E3EB2F}" destId="{4E0B9DFA-EB1C-443F-B7CD-0E845895C3A3}" srcOrd="4" destOrd="0" parTransId="{C16D1024-EAB8-4C07-879A-1CE668DCA4BC}" sibTransId="{843B66B4-217E-4679-A4BE-4C49B59D16D5}"/>
    <dgm:cxn modelId="{282F1F84-821A-40C4-B5AB-AD2BA8CD94EB}" type="presOf" srcId="{C150FAC3-B102-4924-B100-1BC9FCBCB1A2}" destId="{5C1E8DC1-AAFE-410C-B7DD-4A36D1E79802}" srcOrd="1" destOrd="0" presId="urn:microsoft.com/office/officeart/2005/8/layout/vProcess5"/>
    <dgm:cxn modelId="{902576BD-4427-43DF-8E6E-BE697A3F8E8B}" type="presOf" srcId="{1D8EEE9D-9D31-4963-B66C-0B4969D17B2E}" destId="{603C8711-322E-43F0-AB96-982ACA096A40}" srcOrd="0" destOrd="0" presId="urn:microsoft.com/office/officeart/2005/8/layout/vProcess5"/>
    <dgm:cxn modelId="{BF620CEF-A533-40DB-83DC-6DB764F3FBCE}" type="presOf" srcId="{A7486D04-3FB0-4A7C-BE5D-01E81A7E5C63}" destId="{7C429A44-EE94-40F1-B0A1-7C5EAC3E88EC}" srcOrd="1" destOrd="0" presId="urn:microsoft.com/office/officeart/2005/8/layout/vProcess5"/>
    <dgm:cxn modelId="{3DA88DA7-911A-45E9-87BB-93A83FAF72F2}" type="presOf" srcId="{031794EF-75C0-4501-9DBB-B2D5FF9010BE}" destId="{0D8BC796-886F-4C50-9801-D35FA326B0FF}" srcOrd="0" destOrd="0" presId="urn:microsoft.com/office/officeart/2005/8/layout/vProcess5"/>
    <dgm:cxn modelId="{AEA7991C-EC9C-4106-BCB8-08B40A8F207B}" srcId="{7C23C97E-25E0-4BED-AA6A-3B2AE1E3EB2F}" destId="{C150FAC3-B102-4924-B100-1BC9FCBCB1A2}" srcOrd="3" destOrd="0" parTransId="{55CA465D-55D5-4EDB-95AF-70597DC92915}" sibTransId="{59C95747-F27C-4B79-A0E5-E28DF95ABC03}"/>
    <dgm:cxn modelId="{7E7EB426-4E39-44EC-B20D-066FA77E0F1E}" srcId="{7C23C97E-25E0-4BED-AA6A-3B2AE1E3EB2F}" destId="{588EABC2-776C-428D-87C1-D9E3E7912750}" srcOrd="0" destOrd="0" parTransId="{746E93AF-1A58-4C6E-8154-489F4D04ACDF}" sibTransId="{27C2FD5C-EB42-429D-9917-0366DDEB42CA}"/>
    <dgm:cxn modelId="{C0EB228D-7BEF-411C-8D79-38C2A09EF6FA}" type="presOf" srcId="{7C23C97E-25E0-4BED-AA6A-3B2AE1E3EB2F}" destId="{9FB88D17-59DB-443B-AB46-E8732E950877}" srcOrd="0" destOrd="0" presId="urn:microsoft.com/office/officeart/2005/8/layout/vProcess5"/>
    <dgm:cxn modelId="{6DC2D806-D389-4267-8505-9DCBED71DE41}" type="presOf" srcId="{588EABC2-776C-428D-87C1-D9E3E7912750}" destId="{94C0693B-DD99-4B13-9A4D-523968F32AD9}" srcOrd="0" destOrd="0" presId="urn:microsoft.com/office/officeart/2005/8/layout/vProcess5"/>
    <dgm:cxn modelId="{93306617-4576-499D-932E-E7F02681B29B}" srcId="{7C23C97E-25E0-4BED-AA6A-3B2AE1E3EB2F}" destId="{1F7201F9-085F-429F-B2E0-B0FE05D1F6C9}" srcOrd="1" destOrd="0" parTransId="{82F1A542-BC53-4887-875B-44AC069AB5EF}" sibTransId="{1D8EEE9D-9D31-4963-B66C-0B4969D17B2E}"/>
    <dgm:cxn modelId="{40A2955A-4634-426D-BEB9-561D9AB65BDA}" type="presParOf" srcId="{9FB88D17-59DB-443B-AB46-E8732E950877}" destId="{65B0D40A-1189-44C0-814B-7870477D94C2}" srcOrd="0" destOrd="0" presId="urn:microsoft.com/office/officeart/2005/8/layout/vProcess5"/>
    <dgm:cxn modelId="{72C5A533-EA19-4040-A4F9-74A690ECB5EF}" type="presParOf" srcId="{9FB88D17-59DB-443B-AB46-E8732E950877}" destId="{94C0693B-DD99-4B13-9A4D-523968F32AD9}" srcOrd="1" destOrd="0" presId="urn:microsoft.com/office/officeart/2005/8/layout/vProcess5"/>
    <dgm:cxn modelId="{99700872-BE9D-43C1-ACA6-98D057C4B7C4}" type="presParOf" srcId="{9FB88D17-59DB-443B-AB46-E8732E950877}" destId="{DFD7392D-5156-4B5E-B59E-ED88952A03BC}" srcOrd="2" destOrd="0" presId="urn:microsoft.com/office/officeart/2005/8/layout/vProcess5"/>
    <dgm:cxn modelId="{E6C86DA7-FE0F-42C7-9000-CCFBB8D79EFB}" type="presParOf" srcId="{9FB88D17-59DB-443B-AB46-E8732E950877}" destId="{436A7201-3F87-47E0-88B4-21B03F1AAEA1}" srcOrd="3" destOrd="0" presId="urn:microsoft.com/office/officeart/2005/8/layout/vProcess5"/>
    <dgm:cxn modelId="{62FD18F1-4D37-44BF-8B7E-6DBDFA0858BA}" type="presParOf" srcId="{9FB88D17-59DB-443B-AB46-E8732E950877}" destId="{68563D6D-CBB7-4A0A-80AD-23A759AF2531}" srcOrd="4" destOrd="0" presId="urn:microsoft.com/office/officeart/2005/8/layout/vProcess5"/>
    <dgm:cxn modelId="{1A9B42BC-0983-4635-A630-5A9D0888A0A8}" type="presParOf" srcId="{9FB88D17-59DB-443B-AB46-E8732E950877}" destId="{2E8B789C-A1A9-4F21-8657-C9EA0A0612CF}" srcOrd="5" destOrd="0" presId="urn:microsoft.com/office/officeart/2005/8/layout/vProcess5"/>
    <dgm:cxn modelId="{9DF6EBE9-51DC-41B9-A575-A8A41FB9797F}" type="presParOf" srcId="{9FB88D17-59DB-443B-AB46-E8732E950877}" destId="{D7E399FE-B289-4113-8206-6169807BFA51}" srcOrd="6" destOrd="0" presId="urn:microsoft.com/office/officeart/2005/8/layout/vProcess5"/>
    <dgm:cxn modelId="{AEB1EDC5-8226-45CF-85F0-8BB1507DF725}" type="presParOf" srcId="{9FB88D17-59DB-443B-AB46-E8732E950877}" destId="{603C8711-322E-43F0-AB96-982ACA096A40}" srcOrd="7" destOrd="0" presId="urn:microsoft.com/office/officeart/2005/8/layout/vProcess5"/>
    <dgm:cxn modelId="{A434BB7E-20E4-4A29-8BEB-359681315310}" type="presParOf" srcId="{9FB88D17-59DB-443B-AB46-E8732E950877}" destId="{0D8BC796-886F-4C50-9801-D35FA326B0FF}" srcOrd="8" destOrd="0" presId="urn:microsoft.com/office/officeart/2005/8/layout/vProcess5"/>
    <dgm:cxn modelId="{28436D44-5D14-4DA7-8299-014380817DB8}" type="presParOf" srcId="{9FB88D17-59DB-443B-AB46-E8732E950877}" destId="{1BE15A76-85AB-4023-9D46-E7B7BDAF67B8}" srcOrd="9" destOrd="0" presId="urn:microsoft.com/office/officeart/2005/8/layout/vProcess5"/>
    <dgm:cxn modelId="{1D31FFC9-17C5-4B07-A26F-D179E6C9ACA7}" type="presParOf" srcId="{9FB88D17-59DB-443B-AB46-E8732E950877}" destId="{BDB3CD19-1480-405C-8CFF-592DB693A692}" srcOrd="10" destOrd="0" presId="urn:microsoft.com/office/officeart/2005/8/layout/vProcess5"/>
    <dgm:cxn modelId="{95A89A9E-939C-4F29-AA1F-4D9CBD9C049D}" type="presParOf" srcId="{9FB88D17-59DB-443B-AB46-E8732E950877}" destId="{C5E933FD-A9EB-4423-AA67-EBD2D6849125}" srcOrd="11" destOrd="0" presId="urn:microsoft.com/office/officeart/2005/8/layout/vProcess5"/>
    <dgm:cxn modelId="{972897EF-451B-4B2E-8FE3-4FB8CC86D3C4}" type="presParOf" srcId="{9FB88D17-59DB-443B-AB46-E8732E950877}" destId="{7C429A44-EE94-40F1-B0A1-7C5EAC3E88EC}" srcOrd="12" destOrd="0" presId="urn:microsoft.com/office/officeart/2005/8/layout/vProcess5"/>
    <dgm:cxn modelId="{DF5621EE-8E51-49D0-8FD9-A37C4C9F9A62}" type="presParOf" srcId="{9FB88D17-59DB-443B-AB46-E8732E950877}" destId="{5C1E8DC1-AAFE-410C-B7DD-4A36D1E79802}" srcOrd="13" destOrd="0" presId="urn:microsoft.com/office/officeart/2005/8/layout/vProcess5"/>
    <dgm:cxn modelId="{8DCC80F7-B8C9-4DDE-B7DF-784D65F03C43}" type="presParOf" srcId="{9FB88D17-59DB-443B-AB46-E8732E950877}" destId="{26E32E93-2547-4B26-ABEC-701EB21ADE41}" srcOrd="14" destOrd="0" presId="urn:microsoft.com/office/officeart/2005/8/layout/vProcess5"/>
  </dgm:cxnLst>
  <dgm:bg/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0693B-DD99-4B13-9A4D-523968F32AD9}">
      <dsp:nvSpPr>
        <dsp:cNvPr id="0" name=""/>
        <dsp:cNvSpPr/>
      </dsp:nvSpPr>
      <dsp:spPr>
        <a:xfrm>
          <a:off x="0" y="0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2016.09-2017.01</a:t>
          </a:r>
          <a:r>
            <a:rPr lang="zh-CN" altLang="en-US" sz="1800" kern="1200" dirty="0" smtClean="0">
              <a:solidFill>
                <a:schemeClr val="tx1"/>
              </a:solidFill>
            </a:rPr>
            <a:t>：课题调研，确定研究方案</a:t>
          </a:r>
          <a:r>
            <a:rPr lang="en-US" altLang="zh-CN" sz="1800" kern="1200" dirty="0" smtClean="0">
              <a:solidFill>
                <a:schemeClr val="tx1"/>
              </a:solidFill>
            </a:rPr>
            <a:t> 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15798" y="15798"/>
        <a:ext cx="4682848" cy="507781"/>
      </dsp:txXfrm>
    </dsp:sp>
    <dsp:sp modelId="{DFD7392D-5156-4B5E-B59E-ED88952A03BC}">
      <dsp:nvSpPr>
        <dsp:cNvPr id="0" name=""/>
        <dsp:cNvSpPr/>
      </dsp:nvSpPr>
      <dsp:spPr>
        <a:xfrm>
          <a:off x="397869" y="614291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2017.02-2017.04</a:t>
          </a:r>
          <a:r>
            <a:rPr lang="zh-CN" altLang="en-US" sz="1800" kern="1200" dirty="0" smtClean="0">
              <a:solidFill>
                <a:schemeClr val="tx1"/>
              </a:solidFill>
            </a:rPr>
            <a:t>：</a:t>
          </a:r>
          <a:r>
            <a:rPr lang="en-US" altLang="zh-CN" sz="1800" kern="1200" dirty="0" smtClean="0">
              <a:solidFill>
                <a:schemeClr val="tx1"/>
              </a:solidFill>
            </a:rPr>
            <a:t> </a:t>
          </a:r>
          <a:r>
            <a:rPr lang="zh-CN" altLang="en-US" sz="1800" kern="1200" dirty="0" smtClean="0">
              <a:solidFill>
                <a:schemeClr val="tx1"/>
              </a:solidFill>
            </a:rPr>
            <a:t>算法设计与模型设计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413667" y="630089"/>
        <a:ext cx="4547925" cy="507781"/>
      </dsp:txXfrm>
    </dsp:sp>
    <dsp:sp modelId="{436A7201-3F87-47E0-88B4-21B03F1AAEA1}">
      <dsp:nvSpPr>
        <dsp:cNvPr id="0" name=""/>
        <dsp:cNvSpPr/>
      </dsp:nvSpPr>
      <dsp:spPr>
        <a:xfrm>
          <a:off x="795738" y="1228582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2017.05-2017.07</a:t>
          </a:r>
          <a:r>
            <a:rPr lang="zh-CN" altLang="en-US" sz="1800" kern="1200" dirty="0" smtClean="0">
              <a:solidFill>
                <a:schemeClr val="tx1"/>
              </a:solidFill>
            </a:rPr>
            <a:t>：设计实验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811536" y="1244380"/>
        <a:ext cx="4547925" cy="507781"/>
      </dsp:txXfrm>
    </dsp:sp>
    <dsp:sp modelId="{68563D6D-CBB7-4A0A-80AD-23A759AF2531}">
      <dsp:nvSpPr>
        <dsp:cNvPr id="0" name=""/>
        <dsp:cNvSpPr/>
      </dsp:nvSpPr>
      <dsp:spPr>
        <a:xfrm>
          <a:off x="1193607" y="1842873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2017.09-2017.10</a:t>
          </a:r>
          <a:r>
            <a:rPr lang="zh-CN" altLang="en-US" sz="1800" kern="1200" dirty="0" smtClean="0">
              <a:solidFill>
                <a:schemeClr val="tx1"/>
              </a:solidFill>
            </a:rPr>
            <a:t>：论文撰写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1209405" y="1858671"/>
        <a:ext cx="4547925" cy="507781"/>
      </dsp:txXfrm>
    </dsp:sp>
    <dsp:sp modelId="{2E8B789C-A1A9-4F21-8657-C9EA0A0612CF}">
      <dsp:nvSpPr>
        <dsp:cNvPr id="0" name=""/>
        <dsp:cNvSpPr/>
      </dsp:nvSpPr>
      <dsp:spPr>
        <a:xfrm>
          <a:off x="1591476" y="2457164"/>
          <a:ext cx="5327986" cy="53937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 dirty="0"/>
        </a:p>
      </dsp:txBody>
      <dsp:txXfrm>
        <a:off x="1607274" y="2472962"/>
        <a:ext cx="4547925" cy="507781"/>
      </dsp:txXfrm>
    </dsp:sp>
    <dsp:sp modelId="{D7E399FE-B289-4113-8206-6169807BFA51}">
      <dsp:nvSpPr>
        <dsp:cNvPr id="0" name=""/>
        <dsp:cNvSpPr/>
      </dsp:nvSpPr>
      <dsp:spPr>
        <a:xfrm>
          <a:off x="4977391" y="394045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056275" y="394045"/>
        <a:ext cx="192827" cy="263823"/>
      </dsp:txXfrm>
    </dsp:sp>
    <dsp:sp modelId="{603C8711-322E-43F0-AB96-982ACA096A40}">
      <dsp:nvSpPr>
        <dsp:cNvPr id="0" name=""/>
        <dsp:cNvSpPr/>
      </dsp:nvSpPr>
      <dsp:spPr>
        <a:xfrm>
          <a:off x="5375260" y="1008336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454144" y="1008336"/>
        <a:ext cx="192827" cy="263823"/>
      </dsp:txXfrm>
    </dsp:sp>
    <dsp:sp modelId="{0D8BC796-886F-4C50-9801-D35FA326B0FF}">
      <dsp:nvSpPr>
        <dsp:cNvPr id="0" name=""/>
        <dsp:cNvSpPr/>
      </dsp:nvSpPr>
      <dsp:spPr>
        <a:xfrm>
          <a:off x="5773129" y="1613637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852013" y="1613637"/>
        <a:ext cx="192827" cy="263823"/>
      </dsp:txXfrm>
    </dsp:sp>
    <dsp:sp modelId="{1BE15A76-85AB-4023-9D46-E7B7BDAF67B8}">
      <dsp:nvSpPr>
        <dsp:cNvPr id="0" name=""/>
        <dsp:cNvSpPr/>
      </dsp:nvSpPr>
      <dsp:spPr>
        <a:xfrm>
          <a:off x="6170998" y="2233922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6249882" y="2233922"/>
        <a:ext cx="192827" cy="263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84F9E-E350-4B89-80CE-829F173C79D4}" type="datetimeFigureOut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0EC82-F53C-49E6-9E9F-5E5139D73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0EC82-F53C-49E6-9E9F-5E5139D738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925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B645-D222-4ECA-81F7-97D18D3E3FEB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4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D376-7F58-48FE-9444-B98728F61B54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22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281B-9504-4D02-B20D-3AED5F43A5BA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19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3BCE-759C-4C5C-A27F-109D61DE1A41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22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AB13-8DE6-46B9-9F43-B593BE539FEE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1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4F6E0-F578-4E9A-9922-2EC56E73A3B6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51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E0941-C7EA-44C7-A0A0-32748F3ECE8E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64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110F-EB2B-4053-8C4F-5CEA08283027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97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BF652-A9CE-4217-89C4-83F623C0900C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5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C5EEE-20BF-4776-9376-8C09F76A8DB1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3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DACA-7052-4331-8AAC-A4CD4747F5C3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7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E8AF6-CF04-4BAA-A273-7208D0B4C1FD}" type="datetime1">
              <a:rPr lang="zh-CN" altLang="en-US" smtClean="0"/>
              <a:t>2017/2/22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77C4F-1B95-4166-9B38-E3B757F78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92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 smtClean="0"/>
              <a:t>操作感知的分布式流处理质量控制研究</a:t>
            </a:r>
            <a:endParaRPr lang="zh-CN" altLang="en-US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               </a:t>
            </a:r>
            <a:r>
              <a:rPr lang="zh-CN" altLang="en-US" sz="2000" dirty="0" smtClean="0"/>
              <a:t>汇报人：王飞越</a:t>
            </a:r>
            <a:endParaRPr lang="en-US" altLang="zh-CN" sz="2000" dirty="0"/>
          </a:p>
          <a:p>
            <a:r>
              <a:rPr lang="zh-CN" altLang="en-US" sz="2000" dirty="0" smtClean="0"/>
              <a:t>指导老师、导师：陈汉华</a:t>
            </a:r>
            <a:endParaRPr lang="zh-CN" altLang="en-US" sz="2000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91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83372" y="17962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892">
              <a:defRPr/>
            </a:pPr>
            <a:r>
              <a:rPr kumimoji="1" lang="zh-CN" altLang="en-US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研究背景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83372" y="25142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892">
              <a:defRPr/>
            </a:pPr>
            <a:r>
              <a:rPr kumimoji="1" lang="zh-CN" altLang="en-US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研究现状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83372" y="3230620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892">
              <a:defRPr/>
            </a:pPr>
            <a:r>
              <a:rPr kumimoji="1" lang="zh-CN" altLang="en-US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研究方案  </a:t>
            </a:r>
          </a:p>
        </p:txBody>
      </p:sp>
      <p:sp>
        <p:nvSpPr>
          <p:cNvPr id="5" name="椭圆 4"/>
          <p:cNvSpPr/>
          <p:nvPr/>
        </p:nvSpPr>
        <p:spPr>
          <a:xfrm>
            <a:off x="4352681" y="3150776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342892">
              <a:defRPr/>
            </a:pPr>
            <a:r>
              <a:rPr kumimoji="1" lang="en-US" altLang="zh-CN" b="1" kern="0" dirty="0">
                <a:solidFill>
                  <a:srgbClr val="FFFFFF"/>
                </a:solidFill>
                <a:cs typeface="+mn-ea"/>
                <a:sym typeface="+mn-lt"/>
              </a:rPr>
              <a:t>3</a:t>
            </a: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44824" y="4498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892">
              <a:defRPr/>
            </a:pP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352681" y="3876497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342892">
              <a:defRPr/>
            </a:pPr>
            <a:r>
              <a:rPr kumimoji="1" lang="en-US" altLang="zh-CN" b="1" kern="0" dirty="0">
                <a:solidFill>
                  <a:srgbClr val="FFFFFF"/>
                </a:solidFill>
                <a:cs typeface="+mn-ea"/>
                <a:sym typeface="+mn-lt"/>
              </a:rPr>
              <a:t>4</a:t>
            </a: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352681" y="1699336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342892">
              <a:defRPr/>
            </a:pPr>
            <a:r>
              <a:rPr kumimoji="1" lang="en-US" altLang="zh-CN" b="1" kern="0" dirty="0">
                <a:solidFill>
                  <a:srgbClr val="FFFFFF"/>
                </a:solidFill>
                <a:cs typeface="+mn-ea"/>
                <a:sym typeface="+mn-lt"/>
              </a:rPr>
              <a:t>1</a:t>
            </a: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359577" y="2425056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342892">
              <a:defRPr/>
            </a:pPr>
            <a:r>
              <a:rPr kumimoji="1" lang="en-US" altLang="zh-CN" b="1" kern="0" dirty="0">
                <a:solidFill>
                  <a:srgbClr val="FFFFFF"/>
                </a:solidFill>
                <a:cs typeface="+mn-ea"/>
                <a:sym typeface="+mn-lt"/>
              </a:rPr>
              <a:t>2</a:t>
            </a: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08620" y="2695056"/>
            <a:ext cx="1455651" cy="14556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2052402" y="2977534"/>
            <a:ext cx="151559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352681" y="4602217"/>
            <a:ext cx="540000" cy="54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342892">
              <a:defRPr/>
            </a:pPr>
            <a:r>
              <a:rPr kumimoji="1" lang="en-US" altLang="zh-CN" b="1" kern="0" dirty="0">
                <a:solidFill>
                  <a:srgbClr val="FFFFFF"/>
                </a:solidFill>
                <a:cs typeface="+mn-ea"/>
                <a:sym typeface="+mn-lt"/>
              </a:rPr>
              <a:t>5</a:t>
            </a:r>
            <a:endParaRPr kumimoji="1" lang="zh-CN" altLang="en-US" b="1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文本框 8"/>
          <p:cNvSpPr txBox="1"/>
          <p:nvPr/>
        </p:nvSpPr>
        <p:spPr>
          <a:xfrm>
            <a:off x="5283372" y="39470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892">
              <a:defRPr/>
            </a:pPr>
            <a:r>
              <a:rPr kumimoji="1" lang="zh-CN" altLang="en-US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进度安排</a:t>
            </a:r>
          </a:p>
        </p:txBody>
      </p:sp>
      <p:sp>
        <p:nvSpPr>
          <p:cNvPr id="14" name="文本框 8"/>
          <p:cNvSpPr txBox="1"/>
          <p:nvPr/>
        </p:nvSpPr>
        <p:spPr>
          <a:xfrm>
            <a:off x="5283372" y="46633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892">
              <a:defRPr/>
            </a:pPr>
            <a:r>
              <a:rPr kumimoji="1" lang="zh-CN" altLang="en-US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参考文献</a:t>
            </a:r>
          </a:p>
        </p:txBody>
      </p:sp>
      <p:pic>
        <p:nvPicPr>
          <p:cNvPr id="18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26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8" dur="15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482873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5" name="椭圆 4"/>
          <p:cNvSpPr/>
          <p:nvPr/>
        </p:nvSpPr>
        <p:spPr>
          <a:xfrm>
            <a:off x="3994744" y="2241101"/>
            <a:ext cx="1144988" cy="1144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5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405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8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分布式流处理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产生背景</a:t>
            </a:r>
            <a:endParaRPr lang="en-US" altLang="zh-CN" dirty="0"/>
          </a:p>
          <a:p>
            <a:pPr lvl="1"/>
            <a:r>
              <a:rPr lang="zh-CN" altLang="en-US" dirty="0"/>
              <a:t>数据价值高</a:t>
            </a:r>
            <a:endParaRPr lang="en-US" altLang="zh-CN" dirty="0"/>
          </a:p>
          <a:p>
            <a:pPr lvl="1"/>
            <a:r>
              <a:rPr lang="zh-CN" altLang="en-US" dirty="0"/>
              <a:t>数据时效性强</a:t>
            </a:r>
            <a:endParaRPr lang="en-US" altLang="zh-CN" dirty="0"/>
          </a:p>
          <a:p>
            <a:pPr lvl="1"/>
            <a:r>
              <a:rPr lang="zh-CN" altLang="en-US" dirty="0"/>
              <a:t>数据量大</a:t>
            </a:r>
            <a:endParaRPr lang="en-US" altLang="zh-CN" dirty="0"/>
          </a:p>
          <a:p>
            <a:pPr lvl="1"/>
            <a:r>
              <a:rPr lang="zh-CN" altLang="en-US" dirty="0"/>
              <a:t>数据量增速快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应用场景</a:t>
            </a:r>
            <a:endParaRPr lang="en-US" altLang="zh-CN" dirty="0"/>
          </a:p>
          <a:p>
            <a:pPr lvl="1"/>
            <a:r>
              <a:rPr lang="zh-CN" altLang="en-US" dirty="0"/>
              <a:t>社交网络中热词检测</a:t>
            </a:r>
            <a:endParaRPr lang="en-US" altLang="zh-CN" dirty="0"/>
          </a:p>
          <a:p>
            <a:pPr lvl="1"/>
            <a:r>
              <a:rPr lang="zh-CN" altLang="en-US" dirty="0" smtClean="0"/>
              <a:t>购物</a:t>
            </a:r>
            <a:r>
              <a:rPr lang="zh-CN" altLang="en-US" dirty="0"/>
              <a:t>网站</a:t>
            </a:r>
            <a:r>
              <a:rPr lang="zh-CN" altLang="en-US" dirty="0" smtClean="0"/>
              <a:t>中</a:t>
            </a:r>
            <a:r>
              <a:rPr lang="zh-CN" altLang="en-US" dirty="0"/>
              <a:t>的商品推荐</a:t>
            </a:r>
            <a:endParaRPr lang="en-US" altLang="zh-CN" dirty="0"/>
          </a:p>
          <a:p>
            <a:pPr lvl="1"/>
            <a:r>
              <a:rPr lang="zh-CN" altLang="en-US" dirty="0"/>
              <a:t>智能交通中的实时监控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88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分布式流处理</a:t>
            </a:r>
            <a:r>
              <a:rPr lang="zh-CN" altLang="en-US" dirty="0">
                <a:solidFill>
                  <a:srgbClr val="FF0000"/>
                </a:solidFill>
              </a:rPr>
              <a:t>质量控制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突发性</a:t>
            </a:r>
            <a:endParaRPr lang="en-US" altLang="zh-CN" dirty="0"/>
          </a:p>
          <a:p>
            <a:pPr lvl="1"/>
            <a:r>
              <a:rPr lang="zh-CN" altLang="en-US" dirty="0"/>
              <a:t>双十一天猫的访问量是平时的</a:t>
            </a:r>
            <a:r>
              <a:rPr lang="en-US" altLang="zh-CN" dirty="0"/>
              <a:t>8</a:t>
            </a:r>
            <a:r>
              <a:rPr lang="zh-CN" altLang="en-US" dirty="0"/>
              <a:t>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过载</a:t>
            </a:r>
            <a:endParaRPr lang="en-US" altLang="zh-CN" dirty="0"/>
          </a:p>
          <a:p>
            <a:pPr lvl="1"/>
            <a:r>
              <a:rPr lang="zh-CN" altLang="en-US" dirty="0" smtClean="0"/>
              <a:t>需要处理</a:t>
            </a:r>
            <a:r>
              <a:rPr lang="zh-CN" altLang="en-US" dirty="0" smtClean="0"/>
              <a:t>的</a:t>
            </a:r>
            <a:r>
              <a:rPr lang="zh-CN" altLang="en-US" dirty="0"/>
              <a:t>查询超过了计算节点的处理能力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卸载</a:t>
            </a:r>
            <a:endParaRPr lang="en-US" altLang="zh-CN" dirty="0"/>
          </a:p>
          <a:p>
            <a:pPr lvl="1"/>
            <a:r>
              <a:rPr lang="zh-CN" altLang="en-US" dirty="0"/>
              <a:t>降级的查询结果可被用户接受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质量控制</a:t>
            </a:r>
            <a:endParaRPr lang="en-US" altLang="zh-CN" dirty="0"/>
          </a:p>
          <a:p>
            <a:pPr lvl="1"/>
            <a:r>
              <a:rPr lang="zh-CN" altLang="en-US" dirty="0" smtClean="0"/>
              <a:t>使卸载对每个查询结果是合理的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298" y="1928812"/>
            <a:ext cx="2686050" cy="1500188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5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操作感知</a:t>
            </a:r>
            <a:r>
              <a:rPr lang="zh-CN" altLang="en-US" dirty="0"/>
              <a:t>的分布式流</a:t>
            </a:r>
            <a:r>
              <a:rPr lang="zh-CN" altLang="en-US" dirty="0" smtClean="0"/>
              <a:t>处理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质量控制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流处理中的</a:t>
            </a:r>
            <a:r>
              <a:rPr lang="zh-CN" altLang="en-US" dirty="0" smtClean="0"/>
              <a:t>查询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操作感知</a:t>
            </a:r>
            <a:endParaRPr lang="en-US" altLang="zh-CN" dirty="0"/>
          </a:p>
          <a:p>
            <a:pPr lvl="1"/>
            <a:r>
              <a:rPr lang="zh-CN" altLang="en-US" dirty="0"/>
              <a:t>求和、平均值、计数</a:t>
            </a:r>
            <a:endParaRPr lang="en-US" altLang="zh-CN" dirty="0"/>
          </a:p>
          <a:p>
            <a:pPr lvl="1"/>
            <a:r>
              <a:rPr lang="en-US" altLang="zh-CN" dirty="0"/>
              <a:t>Join</a:t>
            </a:r>
          </a:p>
          <a:p>
            <a:pPr lvl="1"/>
            <a:r>
              <a:rPr lang="zh-CN" altLang="en-US" dirty="0"/>
              <a:t>用户自定义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24" name="矩形 23"/>
          <p:cNvSpPr/>
          <p:nvPr/>
        </p:nvSpPr>
        <p:spPr>
          <a:xfrm>
            <a:off x="4186680" y="2295243"/>
            <a:ext cx="3563332" cy="11918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椭圆 24"/>
              <p:cNvSpPr/>
              <p:nvPr/>
            </p:nvSpPr>
            <p:spPr>
              <a:xfrm>
                <a:off x="4490694" y="2667000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5" name="椭圆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694" y="2667000"/>
                <a:ext cx="367645" cy="367646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/>
          <p:cNvCxnSpPr/>
          <p:nvPr/>
        </p:nvCxnSpPr>
        <p:spPr>
          <a:xfrm>
            <a:off x="4858339" y="2864963"/>
            <a:ext cx="473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/>
              <p:cNvSpPr/>
              <p:nvPr/>
            </p:nvSpPr>
            <p:spPr>
              <a:xfrm>
                <a:off x="5324966" y="2667000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7" name="椭圆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966" y="2667000"/>
                <a:ext cx="367645" cy="367646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/>
              <p:cNvSpPr/>
              <p:nvPr/>
            </p:nvSpPr>
            <p:spPr>
              <a:xfrm>
                <a:off x="6159237" y="2432576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8" name="椭圆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237" y="2432576"/>
                <a:ext cx="367645" cy="367646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 28"/>
              <p:cNvSpPr/>
              <p:nvPr/>
            </p:nvSpPr>
            <p:spPr>
              <a:xfrm>
                <a:off x="6180449" y="2983424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9" name="椭圆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49" y="2983424"/>
                <a:ext cx="367645" cy="367646"/>
              </a:xfrm>
              <a:prstGeom prst="ellipse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椭圆 29"/>
              <p:cNvSpPr/>
              <p:nvPr/>
            </p:nvSpPr>
            <p:spPr>
              <a:xfrm>
                <a:off x="6982584" y="2667000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0" name="椭圆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584" y="2667000"/>
                <a:ext cx="367645" cy="367646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30"/>
          <p:cNvCxnSpPr>
            <a:stCxn id="28" idx="6"/>
            <a:endCxn id="30" idx="2"/>
          </p:cNvCxnSpPr>
          <p:nvPr/>
        </p:nvCxnSpPr>
        <p:spPr>
          <a:xfrm>
            <a:off x="6526882" y="2616399"/>
            <a:ext cx="455702" cy="23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30" idx="2"/>
          </p:cNvCxnSpPr>
          <p:nvPr/>
        </p:nvCxnSpPr>
        <p:spPr>
          <a:xfrm flipV="1">
            <a:off x="6570911" y="2850823"/>
            <a:ext cx="411673" cy="322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7" idx="6"/>
            <a:endCxn id="28" idx="2"/>
          </p:cNvCxnSpPr>
          <p:nvPr/>
        </p:nvCxnSpPr>
        <p:spPr>
          <a:xfrm flipV="1">
            <a:off x="5692611" y="2616399"/>
            <a:ext cx="466627" cy="23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endCxn id="29" idx="2"/>
          </p:cNvCxnSpPr>
          <p:nvPr/>
        </p:nvCxnSpPr>
        <p:spPr>
          <a:xfrm>
            <a:off x="5713527" y="2857893"/>
            <a:ext cx="466922" cy="30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3309987" y="2855837"/>
            <a:ext cx="1180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445274" y="2584208"/>
            <a:ext cx="105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输出结果</a:t>
            </a:r>
            <a:endParaRPr lang="zh-CN" altLang="en-US" sz="1400" dirty="0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7403576" y="2850823"/>
            <a:ext cx="1180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160289" y="2579722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输入元组</a:t>
            </a:r>
            <a:endParaRPr lang="en-US" altLang="zh-CN" sz="14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6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482873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研究</a:t>
            </a:r>
            <a:r>
              <a:rPr lang="zh-CN" altLang="en-US" dirty="0"/>
              <a:t>现状</a:t>
            </a:r>
          </a:p>
        </p:txBody>
      </p:sp>
      <p:sp>
        <p:nvSpPr>
          <p:cNvPr id="5" name="椭圆 4"/>
          <p:cNvSpPr/>
          <p:nvPr/>
        </p:nvSpPr>
        <p:spPr>
          <a:xfrm>
            <a:off x="3994744" y="2241101"/>
            <a:ext cx="1144988" cy="1144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5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405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49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现有模型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质量控制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操作感知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499" y="1284063"/>
            <a:ext cx="5976866" cy="470823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00732" y="6112458"/>
            <a:ext cx="5210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THEMIS</a:t>
            </a:r>
            <a:r>
              <a:rPr lang="en-US" altLang="zh-CN" sz="1200" dirty="0"/>
              <a:t>: Fairness in Federated Stream Processing under </a:t>
            </a:r>
            <a:r>
              <a:rPr lang="en-US" altLang="zh-CN" sz="1200" dirty="0" smtClean="0"/>
              <a:t>Overload. </a:t>
            </a:r>
            <a:r>
              <a:rPr lang="en-US" altLang="zh-CN" sz="1200" dirty="0"/>
              <a:t>SIGMOD, 2016</a:t>
            </a:r>
            <a:endParaRPr lang="zh-CN" altLang="zh-CN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538484" y="2521944"/>
            <a:ext cx="438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65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研究现状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操作感知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Window-Aware Load Shedding for Aggregation Queries over Data Stream. VLDB, 2006.</a:t>
            </a:r>
          </a:p>
          <a:p>
            <a:pPr lvl="2"/>
            <a:r>
              <a:rPr lang="en-US" altLang="zh-CN" dirty="0" smtClean="0"/>
              <a:t>Result quality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An Adaptive, Multiway, Windowed Stream Join with Time Correlation-Aware CPU Load Shedding. TKED, 2007</a:t>
            </a:r>
          </a:p>
          <a:p>
            <a:pPr lvl="2"/>
            <a:r>
              <a:rPr lang="en-US" altLang="zh-CN" dirty="0" smtClean="0"/>
              <a:t>Output rate</a:t>
            </a:r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4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482873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研究</a:t>
            </a:r>
            <a:r>
              <a:rPr lang="zh-CN" altLang="en-US" dirty="0"/>
              <a:t>方案</a:t>
            </a:r>
          </a:p>
        </p:txBody>
      </p:sp>
      <p:sp>
        <p:nvSpPr>
          <p:cNvPr id="5" name="椭圆 4"/>
          <p:cNvSpPr/>
          <p:nvPr/>
        </p:nvSpPr>
        <p:spPr>
          <a:xfrm>
            <a:off x="3994744" y="2241101"/>
            <a:ext cx="1144988" cy="1144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50" b="1" dirty="0" smtClean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405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22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操作感知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通过对现有查询的分析，为操作建立一个合理的模型来刻画卸载对不同操作的影响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质量控制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在操作感知的前提下，寻找更好的查询质量的量化模型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r>
              <a:rPr lang="zh-CN" altLang="en-US" dirty="0"/>
              <a:t>可以</a:t>
            </a:r>
            <a:r>
              <a:rPr lang="zh-CN" altLang="en-US" dirty="0" smtClean="0"/>
              <a:t>修改模型中的参数来解决不同分布式流处理应用中的过载问题</a:t>
            </a:r>
            <a:endParaRPr lang="en-US" altLang="zh-CN" dirty="0" smtClean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482873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进度安排</a:t>
            </a:r>
          </a:p>
        </p:txBody>
      </p:sp>
      <p:sp>
        <p:nvSpPr>
          <p:cNvPr id="5" name="椭圆 4"/>
          <p:cNvSpPr/>
          <p:nvPr/>
        </p:nvSpPr>
        <p:spPr>
          <a:xfrm>
            <a:off x="3994744" y="2241101"/>
            <a:ext cx="1144988" cy="1144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50" b="1" dirty="0" smtClean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405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7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进度安排</a:t>
            </a:r>
            <a:endParaRPr lang="zh-CN" alt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646362"/>
              </p:ext>
            </p:extLst>
          </p:nvPr>
        </p:nvGraphicFramePr>
        <p:xfrm>
          <a:off x="628649" y="1825624"/>
          <a:ext cx="6919463" cy="2996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53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482873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参考文献</a:t>
            </a:r>
          </a:p>
        </p:txBody>
      </p:sp>
      <p:sp>
        <p:nvSpPr>
          <p:cNvPr id="5" name="椭圆 4"/>
          <p:cNvSpPr/>
          <p:nvPr/>
        </p:nvSpPr>
        <p:spPr>
          <a:xfrm>
            <a:off x="3994744" y="2241101"/>
            <a:ext cx="1144988" cy="1144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50" b="1" dirty="0" smtClean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405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5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参考文献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[1] E. </a:t>
            </a:r>
            <a:r>
              <a:rPr lang="en-US" altLang="zh-CN" sz="2000" dirty="0" err="1" smtClean="0"/>
              <a:t>Kalyvianaki</a:t>
            </a:r>
            <a:r>
              <a:rPr lang="en-US" altLang="zh-CN" sz="2000" dirty="0" smtClean="0"/>
              <a:t>, M. </a:t>
            </a:r>
            <a:r>
              <a:rPr lang="en-US" altLang="zh-CN" sz="2000" dirty="0" err="1" smtClean="0"/>
              <a:t>Fiscato</a:t>
            </a:r>
            <a:r>
              <a:rPr lang="en-US" altLang="zh-CN" sz="2000" dirty="0" smtClean="0"/>
              <a:t>. THEMIS: Fairness in Federated Stream Processing under Overload. SIGMOD, 2016. </a:t>
            </a:r>
          </a:p>
          <a:p>
            <a:r>
              <a:rPr lang="en-US" altLang="zh-CN" sz="2000" dirty="0" smtClean="0"/>
              <a:t>[2] I. </a:t>
            </a:r>
            <a:r>
              <a:rPr lang="en-US" altLang="zh-CN" sz="2000" dirty="0" err="1" smtClean="0"/>
              <a:t>Botan</a:t>
            </a:r>
            <a:r>
              <a:rPr lang="en-US" altLang="zh-CN" sz="2000" dirty="0" smtClean="0"/>
              <a:t>, </a:t>
            </a:r>
            <a:r>
              <a:rPr lang="en-US" altLang="zh-CN" sz="2000" dirty="0" err="1" smtClean="0"/>
              <a:t>R.Derakhshan</a:t>
            </a:r>
            <a:r>
              <a:rPr lang="en-US" altLang="zh-CN" sz="2000" dirty="0" smtClean="0"/>
              <a:t>, et al. SECRET: A Model for Analysis of the Execution Semantics of Stream Processing Systems. PVLDB, 2010.</a:t>
            </a:r>
          </a:p>
          <a:p>
            <a:r>
              <a:rPr lang="en-US" altLang="zh-CN" sz="2000" dirty="0" smtClean="0"/>
              <a:t>[3] N. </a:t>
            </a:r>
            <a:r>
              <a:rPr lang="en-US" altLang="zh-CN" sz="2000" dirty="0" err="1" smtClean="0"/>
              <a:t>Tabul</a:t>
            </a:r>
            <a:r>
              <a:rPr lang="en-US" altLang="zh-CN" sz="2000" dirty="0" smtClean="0"/>
              <a:t>, U. </a:t>
            </a:r>
            <a:r>
              <a:rPr lang="en-US" altLang="zh-CN" sz="2000" dirty="0" err="1" smtClean="0"/>
              <a:t>Cetintemel</a:t>
            </a:r>
            <a:r>
              <a:rPr lang="en-US" altLang="zh-CN" sz="2000" dirty="0" smtClean="0"/>
              <a:t>, and S. </a:t>
            </a:r>
            <a:r>
              <a:rPr lang="en-US" altLang="zh-CN" sz="2000" dirty="0" err="1" smtClean="0"/>
              <a:t>Zdonik</a:t>
            </a:r>
            <a:r>
              <a:rPr lang="en-US" altLang="zh-CN" sz="2000" dirty="0" smtClean="0"/>
              <a:t>. Staying FIT: Efficient Load Shedding Techniques for Distributed Stream Processing. VLDB, 2007.</a:t>
            </a:r>
          </a:p>
          <a:p>
            <a:r>
              <a:rPr lang="en-US" altLang="zh-CN" sz="2000" dirty="0" smtClean="0"/>
              <a:t>[4] N. </a:t>
            </a:r>
            <a:r>
              <a:rPr lang="en-US" altLang="zh-CN" sz="2000" dirty="0" err="1" smtClean="0"/>
              <a:t>Tatbul</a:t>
            </a:r>
            <a:r>
              <a:rPr lang="en-US" altLang="zh-CN" sz="2000" dirty="0" smtClean="0"/>
              <a:t>, and S. </a:t>
            </a:r>
            <a:r>
              <a:rPr lang="en-US" altLang="zh-CN" sz="2000" dirty="0" err="1" smtClean="0"/>
              <a:t>Zdonik</a:t>
            </a:r>
            <a:r>
              <a:rPr lang="en-US" altLang="zh-CN" sz="2000" dirty="0" smtClean="0"/>
              <a:t>. Window-Aware Load Shedding for Aggregation Queries over Data Stream. VLDB, 2006.</a:t>
            </a:r>
          </a:p>
          <a:p>
            <a:r>
              <a:rPr lang="en-US" altLang="zh-CN" sz="2000" dirty="0" smtClean="0"/>
              <a:t>[5] B. </a:t>
            </a:r>
            <a:r>
              <a:rPr lang="en-US" altLang="zh-CN" sz="2000" dirty="0" err="1" smtClean="0"/>
              <a:t>Gedik</a:t>
            </a:r>
            <a:r>
              <a:rPr lang="en-US" altLang="zh-CN" sz="2000" dirty="0" smtClean="0"/>
              <a:t>, K.-L. Wu, and L. Liu. </a:t>
            </a:r>
            <a:r>
              <a:rPr lang="en-US" altLang="zh-CN" sz="2000" dirty="0" err="1" smtClean="0"/>
              <a:t>GrubJoin</a:t>
            </a:r>
            <a:r>
              <a:rPr lang="en-US" altLang="zh-CN" sz="2000" dirty="0" smtClean="0"/>
              <a:t>: An Adaptive, Multi-way, Windowed Stream Join with Time Correlation-Aware CPU Load Shedding. TKDE, 2007. </a:t>
            </a:r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-4465" y="0"/>
            <a:ext cx="461665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/>
              <a:t>操作感知的分布式流处理质量控制研究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4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764766" y="2363638"/>
            <a:ext cx="326941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谢谢</a:t>
            </a:r>
            <a:endParaRPr lang="zh-CN" altLang="en-US" sz="8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32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798</TotalTime>
  <Words>546</Words>
  <Application>Microsoft Office PowerPoint</Application>
  <PresentationFormat>全屏显示(4:3)</PresentationFormat>
  <Paragraphs>124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操作感知的分布式流处理质量控制研究</vt:lpstr>
      <vt:lpstr>PowerPoint 演示文稿</vt:lpstr>
      <vt:lpstr>研究背景</vt:lpstr>
      <vt:lpstr>分布式流处理</vt:lpstr>
      <vt:lpstr>分布式流处理质量控制</vt:lpstr>
      <vt:lpstr>操作感知的分布式流处理 质量控制</vt:lpstr>
      <vt:lpstr>研究现状</vt:lpstr>
      <vt:lpstr>研究现状</vt:lpstr>
      <vt:lpstr>研究现状</vt:lpstr>
      <vt:lpstr>研究方案</vt:lpstr>
      <vt:lpstr>研究方案</vt:lpstr>
      <vt:lpstr>进度安排</vt:lpstr>
      <vt:lpstr>进度安排</vt:lpstr>
      <vt:lpstr>参考文献</vt:lpstr>
      <vt:lpstr>参考文献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操作感知的分布式流处理质量控制研究</dc:title>
  <dc:creator>王飞越</dc:creator>
  <cp:lastModifiedBy>王飞越</cp:lastModifiedBy>
  <cp:revision>58</cp:revision>
  <dcterms:created xsi:type="dcterms:W3CDTF">2017-02-20T07:36:27Z</dcterms:created>
  <dcterms:modified xsi:type="dcterms:W3CDTF">2017-02-22T16:00:27Z</dcterms:modified>
</cp:coreProperties>
</file>