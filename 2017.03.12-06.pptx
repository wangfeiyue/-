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7" r:id="rId2"/>
    <p:sldId id="258" r:id="rId3"/>
    <p:sldId id="259" r:id="rId4"/>
    <p:sldId id="260" r:id="rId5"/>
    <p:sldId id="261" r:id="rId6"/>
    <p:sldId id="263" r:id="rId7"/>
    <p:sldId id="264" r:id="rId8"/>
    <p:sldId id="265" r:id="rId9"/>
    <p:sldId id="266" r:id="rId10"/>
    <p:sldId id="267" r:id="rId11"/>
    <p:sldId id="268" r:id="rId12"/>
    <p:sldId id="269" r:id="rId1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12" autoAdjust="0"/>
    <p:restoredTop sz="89956" autoAdjust="0"/>
  </p:normalViewPr>
  <p:slideViewPr>
    <p:cSldViewPr snapToGrid="0">
      <p:cViewPr varScale="1">
        <p:scale>
          <a:sx n="105" d="100"/>
          <a:sy n="105" d="100"/>
        </p:scale>
        <p:origin x="108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31640D-D416-44F6-993F-B103F88BDD88}" type="datetimeFigureOut">
              <a:rPr lang="zh-CN" altLang="en-US" smtClean="0"/>
              <a:t>2017/3/12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0E47E-2A3F-413A-AAE1-5B0AEB9A20B6}" type="slidenum">
              <a:rPr lang="zh-CN" altLang="en-US" smtClean="0"/>
              <a:t>‹#›</a:t>
            </a:fld>
            <a:endParaRPr lang="zh-CN" altLang="en-US"/>
          </a:p>
        </p:txBody>
      </p:sp>
    </p:spTree>
    <p:extLst>
      <p:ext uri="{BB962C8B-B14F-4D97-AF65-F5344CB8AC3E}">
        <p14:creationId xmlns:p14="http://schemas.microsoft.com/office/powerpoint/2010/main" val="75893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90EC82-F53C-49E6-9E9F-5E5139D73821}" type="slidenum">
              <a:rPr lang="zh-CN" altLang="en-US" smtClean="0"/>
              <a:t>1</a:t>
            </a:fld>
            <a:endParaRPr lang="zh-CN" altLang="en-US"/>
          </a:p>
        </p:txBody>
      </p:sp>
    </p:spTree>
    <p:extLst>
      <p:ext uri="{BB962C8B-B14F-4D97-AF65-F5344CB8AC3E}">
        <p14:creationId xmlns:p14="http://schemas.microsoft.com/office/powerpoint/2010/main" val="1168366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E47E-2A3F-413A-AAE1-5B0AEB9A20B6}" type="slidenum">
              <a:rPr lang="zh-CN" altLang="en-US" smtClean="0"/>
              <a:t>2</a:t>
            </a:fld>
            <a:endParaRPr lang="zh-CN" altLang="en-US"/>
          </a:p>
        </p:txBody>
      </p:sp>
    </p:spTree>
    <p:extLst>
      <p:ext uri="{BB962C8B-B14F-4D97-AF65-F5344CB8AC3E}">
        <p14:creationId xmlns:p14="http://schemas.microsoft.com/office/powerpoint/2010/main" val="3916057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E47E-2A3F-413A-AAE1-5B0AEB9A20B6}" type="slidenum">
              <a:rPr lang="zh-CN" altLang="en-US" smtClean="0"/>
              <a:t>3</a:t>
            </a:fld>
            <a:endParaRPr lang="zh-CN" altLang="en-US"/>
          </a:p>
        </p:txBody>
      </p:sp>
    </p:spTree>
    <p:extLst>
      <p:ext uri="{BB962C8B-B14F-4D97-AF65-F5344CB8AC3E}">
        <p14:creationId xmlns:p14="http://schemas.microsoft.com/office/powerpoint/2010/main" val="203885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与云计算不同的是，边缘计算强调在接近数据源的地方对数据进行实时的处理，提供边缘智能服务，通过边缘计算中心和云计算中心的共同合作，满足各种应用的不同需求。</a:t>
            </a:r>
            <a:endParaRPr lang="en-US" altLang="zh-CN" dirty="0" smtClean="0"/>
          </a:p>
          <a:p>
            <a:r>
              <a:rPr lang="zh-CN" altLang="en-US" dirty="0" smtClean="0"/>
              <a:t>这样做的优点是能更快的产生相应的输出结果，但是往往这样的边缘计算中心的处理能力有限，当有大量的用户发布查询到这个边缘计算中心超过该计算中心的处理能力时为了满足应用的实时性要求，需要对一些应用采用降质的近似处理，也就是丢弃掉一部分数据，产生可被用户接受的近似结果。，</a:t>
            </a:r>
            <a:endParaRPr lang="zh-CN" altLang="en-US" dirty="0"/>
          </a:p>
        </p:txBody>
      </p:sp>
      <p:sp>
        <p:nvSpPr>
          <p:cNvPr id="4" name="灯片编号占位符 3"/>
          <p:cNvSpPr>
            <a:spLocks noGrp="1"/>
          </p:cNvSpPr>
          <p:nvPr>
            <p:ph type="sldNum" sz="quarter" idx="10"/>
          </p:nvPr>
        </p:nvSpPr>
        <p:spPr/>
        <p:txBody>
          <a:bodyPr/>
          <a:lstStyle/>
          <a:p>
            <a:fld id="{FD80E47E-2A3F-413A-AAE1-5B0AEB9A20B6}" type="slidenum">
              <a:rPr lang="zh-CN" altLang="en-US" smtClean="0"/>
              <a:t>4</a:t>
            </a:fld>
            <a:endParaRPr lang="zh-CN" altLang="en-US"/>
          </a:p>
        </p:txBody>
      </p:sp>
    </p:spTree>
    <p:extLst>
      <p:ext uri="{BB962C8B-B14F-4D97-AF65-F5344CB8AC3E}">
        <p14:creationId xmlns:p14="http://schemas.microsoft.com/office/powerpoint/2010/main" val="1883153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对于不同的操作来说，丢弃相同数量的数据后对结果的影响不一样，所以应该对不同的操作实行不同的丢弃策略来实现对近似处理的质量控制</a:t>
            </a:r>
            <a:endParaRPr lang="zh-CN" altLang="en-US" dirty="0"/>
          </a:p>
        </p:txBody>
      </p:sp>
      <p:sp>
        <p:nvSpPr>
          <p:cNvPr id="4" name="灯片编号占位符 3"/>
          <p:cNvSpPr>
            <a:spLocks noGrp="1"/>
          </p:cNvSpPr>
          <p:nvPr>
            <p:ph type="sldNum" sz="quarter" idx="10"/>
          </p:nvPr>
        </p:nvSpPr>
        <p:spPr/>
        <p:txBody>
          <a:bodyPr/>
          <a:lstStyle/>
          <a:p>
            <a:fld id="{FD80E47E-2A3F-413A-AAE1-5B0AEB9A20B6}" type="slidenum">
              <a:rPr lang="zh-CN" altLang="en-US" smtClean="0"/>
              <a:t>5</a:t>
            </a:fld>
            <a:endParaRPr lang="zh-CN" altLang="en-US"/>
          </a:p>
        </p:txBody>
      </p:sp>
    </p:spTree>
    <p:extLst>
      <p:ext uri="{BB962C8B-B14F-4D97-AF65-F5344CB8AC3E}">
        <p14:creationId xmlns:p14="http://schemas.microsoft.com/office/powerpoint/2010/main" val="3711540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考虑查询的拓扑和操作的具体语义，对不同的分布式流处理运用不同的元组丢弃策略，实现质量控制</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FD80E47E-2A3F-413A-AAE1-5B0AEB9A20B6}" type="slidenum">
              <a:rPr lang="zh-CN" altLang="en-US" smtClean="0"/>
              <a:t>6</a:t>
            </a:fld>
            <a:endParaRPr lang="zh-CN" altLang="en-US"/>
          </a:p>
        </p:txBody>
      </p:sp>
    </p:spTree>
    <p:extLst>
      <p:ext uri="{BB962C8B-B14F-4D97-AF65-F5344CB8AC3E}">
        <p14:creationId xmlns:p14="http://schemas.microsoft.com/office/powerpoint/2010/main" val="3717830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第一个是针对过滤、</a:t>
            </a:r>
            <a:r>
              <a:rPr lang="en-US" altLang="zh-CN" dirty="0" smtClean="0"/>
              <a:t>Union</a:t>
            </a:r>
            <a:r>
              <a:rPr lang="zh-CN" altLang="en-US" dirty="0" smtClean="0"/>
              <a:t>、</a:t>
            </a:r>
            <a:r>
              <a:rPr lang="en-US" altLang="zh-CN" dirty="0" smtClean="0"/>
              <a:t>Join</a:t>
            </a:r>
            <a:r>
              <a:rPr lang="zh-CN" altLang="en-US" dirty="0" smtClean="0"/>
              <a:t>这三个操作，他们都是针对集合的操作，通过输出元组速率与输入元组数目的比值来刻画该操作的选择性，其实并没有真正做到考虑这三个操作的语义，优化系统的吞吐量</a:t>
            </a:r>
            <a:endParaRPr lang="en-US" altLang="zh-CN" dirty="0" smtClean="0"/>
          </a:p>
          <a:p>
            <a:r>
              <a:rPr lang="zh-CN" altLang="en-US" dirty="0" smtClean="0"/>
              <a:t>第二针对的是像</a:t>
            </a:r>
            <a:r>
              <a:rPr lang="en-US" altLang="zh-CN" dirty="0" smtClean="0"/>
              <a:t>SUM</a:t>
            </a:r>
            <a:r>
              <a:rPr lang="zh-CN" altLang="en-US" dirty="0" smtClean="0"/>
              <a:t>、</a:t>
            </a:r>
            <a:r>
              <a:rPr lang="en-US" altLang="zh-CN" dirty="0" smtClean="0"/>
              <a:t>COUNT</a:t>
            </a:r>
            <a:r>
              <a:rPr lang="zh-CN" altLang="en-US" dirty="0" smtClean="0"/>
              <a:t>这样的聚合操作，用相对误差来刻画查询的质量，通过统计的平均值和标准差计算每种操作对应不用质量应该丢弃的元组比例</a:t>
            </a:r>
            <a:endParaRPr lang="en-US" altLang="zh-CN" dirty="0" smtClean="0"/>
          </a:p>
          <a:p>
            <a:r>
              <a:rPr lang="zh-CN" altLang="en-US" dirty="0" smtClean="0"/>
              <a:t>第三考虑到</a:t>
            </a:r>
            <a:r>
              <a:rPr lang="en-US" altLang="zh-CN" dirty="0" smtClean="0"/>
              <a:t>Join</a:t>
            </a:r>
            <a:r>
              <a:rPr lang="zh-CN" altLang="en-US" dirty="0" smtClean="0"/>
              <a:t>操作存在时间相关性，不是通过流控而是通过减少在一个窗口内的计算次数来近似处理，但是并没有这类操作的质量计算模型</a:t>
            </a:r>
            <a:endParaRPr lang="en-US" altLang="zh-CN" dirty="0" smtClean="0"/>
          </a:p>
          <a:p>
            <a:r>
              <a:rPr lang="zh-CN" altLang="en-US" dirty="0" smtClean="0"/>
              <a:t>第四是针对分布式流处理系统，它从叶子处考虑节点的卸载策略，向源头逐步递进，最后在源头形成元组丢弃的约束，从中选择一种实现系统的加权吞吐量最大，但是将查询当做黑箱处理</a:t>
            </a:r>
            <a:r>
              <a:rPr lang="zh-CN" altLang="en-US" dirty="0" smtClean="0"/>
              <a:t>的</a:t>
            </a:r>
            <a:endParaRPr lang="en-US" altLang="zh-CN" dirty="0" smtClean="0"/>
          </a:p>
          <a:p>
            <a:r>
              <a:rPr lang="zh-CN" altLang="en-US" dirty="0" smtClean="0"/>
              <a:t>第五针对分布式流处理系统，为聚合这类操作尽力了相对误差或者方差和取样率成反比的统一模型，进行进行质量控制的元组丢弃</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FD80E47E-2A3F-413A-AAE1-5B0AEB9A20B6}" type="slidenum">
              <a:rPr lang="zh-CN" altLang="en-US" smtClean="0"/>
              <a:t>8</a:t>
            </a:fld>
            <a:endParaRPr lang="zh-CN" altLang="en-US"/>
          </a:p>
        </p:txBody>
      </p:sp>
    </p:spTree>
    <p:extLst>
      <p:ext uri="{BB962C8B-B14F-4D97-AF65-F5344CB8AC3E}">
        <p14:creationId xmlns:p14="http://schemas.microsoft.com/office/powerpoint/2010/main" val="2198131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EC14DCFA-7C6D-4B85-A5C7-CBD9BBC663C9}" type="datetime1">
              <a:rPr lang="zh-CN" altLang="en-US" smtClean="0"/>
              <a:t>2017/3/12</a:t>
            </a:fld>
            <a:endParaRPr lang="zh-CN" altLang="en-US"/>
          </a:p>
        </p:txBody>
      </p:sp>
      <p:sp>
        <p:nvSpPr>
          <p:cNvPr id="5" name="Footer Placeholder 4"/>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6" name="Slide Number Placeholder 5"/>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243353575"/>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B94BDF9-441D-4E0E-8E87-55CFCE41E213}" type="datetime1">
              <a:rPr lang="zh-CN" altLang="en-US" smtClean="0"/>
              <a:t>2017/3/12</a:t>
            </a:fld>
            <a:endParaRPr lang="zh-CN" altLang="en-US"/>
          </a:p>
        </p:txBody>
      </p:sp>
      <p:sp>
        <p:nvSpPr>
          <p:cNvPr id="5" name="Footer Placeholder 4"/>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6" name="Slide Number Placeholder 5"/>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2636106243"/>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4FA76AE4-3B49-4CB4-8750-E55B65D5498F}" type="datetime1">
              <a:rPr lang="zh-CN" altLang="en-US" smtClean="0"/>
              <a:t>2017/3/12</a:t>
            </a:fld>
            <a:endParaRPr lang="zh-CN" altLang="en-US"/>
          </a:p>
        </p:txBody>
      </p:sp>
      <p:sp>
        <p:nvSpPr>
          <p:cNvPr id="5" name="Footer Placeholder 4"/>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6" name="Slide Number Placeholder 5"/>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2055488444"/>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46D0C39-470D-436E-B911-B1FDA0E3A3F8}" type="datetime1">
              <a:rPr lang="zh-CN" altLang="en-US" smtClean="0"/>
              <a:t>2017/3/12</a:t>
            </a:fld>
            <a:endParaRPr lang="zh-CN" altLang="en-US"/>
          </a:p>
        </p:txBody>
      </p:sp>
      <p:sp>
        <p:nvSpPr>
          <p:cNvPr id="6" name="Footer Placeholder 5"/>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7" name="Slide Number Placeholder 6"/>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3526328755"/>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7358C267-6511-4BD6-A3F8-19AF57B18133}" type="datetime1">
              <a:rPr lang="zh-CN" altLang="en-US" smtClean="0"/>
              <a:t>2017/3/12</a:t>
            </a:fld>
            <a:endParaRPr lang="zh-CN" altLang="en-US"/>
          </a:p>
        </p:txBody>
      </p:sp>
      <p:sp>
        <p:nvSpPr>
          <p:cNvPr id="8" name="Footer Placeholder 7"/>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9" name="Slide Number Placeholder 8"/>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2364910664"/>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C2A326EE-7CAD-4FF4-91A6-5AFA92D5A131}" type="datetime1">
              <a:rPr lang="zh-CN" altLang="en-US" smtClean="0"/>
              <a:t>2017/3/12</a:t>
            </a:fld>
            <a:endParaRPr lang="zh-CN" altLang="en-US"/>
          </a:p>
        </p:txBody>
      </p:sp>
      <p:sp>
        <p:nvSpPr>
          <p:cNvPr id="4" name="Footer Placeholder 3"/>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5" name="Slide Number Placeholder 4"/>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2641522785"/>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E7C2B5-8911-4D33-9015-31719BEBC735}" type="datetime1">
              <a:rPr lang="zh-CN" altLang="en-US" smtClean="0"/>
              <a:t>2017/3/12</a:t>
            </a:fld>
            <a:endParaRPr lang="zh-CN" altLang="en-US"/>
          </a:p>
        </p:txBody>
      </p:sp>
      <p:sp>
        <p:nvSpPr>
          <p:cNvPr id="3" name="Footer Placeholder 2"/>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4" name="Slide Number Placeholder 3"/>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1548151173"/>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E00C6522-9258-4229-A014-8E8D98E6C09A}" type="datetime1">
              <a:rPr lang="zh-CN" altLang="en-US" smtClean="0"/>
              <a:t>2017/3/12</a:t>
            </a:fld>
            <a:endParaRPr lang="zh-CN" altLang="en-US"/>
          </a:p>
        </p:txBody>
      </p:sp>
      <p:sp>
        <p:nvSpPr>
          <p:cNvPr id="6" name="Footer Placeholder 5"/>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7" name="Slide Number Placeholder 6"/>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1263294144"/>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C262C3A0-6E31-4761-99FA-591DB8B507C5}" type="datetime1">
              <a:rPr lang="zh-CN" altLang="en-US" smtClean="0"/>
              <a:t>2017/3/12</a:t>
            </a:fld>
            <a:endParaRPr lang="zh-CN" altLang="en-US"/>
          </a:p>
        </p:txBody>
      </p:sp>
      <p:sp>
        <p:nvSpPr>
          <p:cNvPr id="6" name="Footer Placeholder 5"/>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7" name="Slide Number Placeholder 6"/>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3077268604"/>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2A2B3D3-55F1-4898-B5D7-E70FF5560DD2}" type="datetime1">
              <a:rPr lang="zh-CN" altLang="en-US" smtClean="0"/>
              <a:t>2017/3/12</a:t>
            </a:fld>
            <a:endParaRPr lang="zh-CN" altLang="en-US"/>
          </a:p>
        </p:txBody>
      </p:sp>
      <p:sp>
        <p:nvSpPr>
          <p:cNvPr id="5" name="Footer Placeholder 4"/>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6" name="Slide Number Placeholder 5"/>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585073847"/>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EC2318B-23EF-4407-B1DC-1015BC93088F}" type="datetime1">
              <a:rPr lang="zh-CN" altLang="en-US" smtClean="0"/>
              <a:t>2017/3/12</a:t>
            </a:fld>
            <a:endParaRPr lang="zh-CN" altLang="en-US"/>
          </a:p>
        </p:txBody>
      </p:sp>
      <p:sp>
        <p:nvSpPr>
          <p:cNvPr id="5" name="Footer Placeholder 4"/>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6" name="Slide Number Placeholder 5"/>
          <p:cNvSpPr>
            <a:spLocks noGrp="1"/>
          </p:cNvSpPr>
          <p:nvPr>
            <p:ph type="sldNum" sz="quarter" idx="12"/>
          </p:nvPr>
        </p:nvSpPr>
        <p:spPr/>
        <p:txBody>
          <a:body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2229522585"/>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50703-2947-4EFF-B817-393AEFED55A3}" type="datetime1">
              <a:rPr lang="zh-CN" altLang="en-US" smtClean="0"/>
              <a:t>2017/3/12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smtClean="0"/>
              <a:t>操作感知的分布式流处理质量控制研究</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35F806-B122-4290-BE4A-2C153E263B85}" type="slidenum">
              <a:rPr lang="zh-CN" altLang="en-US" smtClean="0"/>
              <a:t>‹#›</a:t>
            </a:fld>
            <a:endParaRPr lang="zh-CN" altLang="en-US"/>
          </a:p>
        </p:txBody>
      </p:sp>
    </p:spTree>
    <p:extLst>
      <p:ext uri="{BB962C8B-B14F-4D97-AF65-F5344CB8AC3E}">
        <p14:creationId xmlns:p14="http://schemas.microsoft.com/office/powerpoint/2010/main" val="40020496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5400" dirty="0" smtClean="0"/>
              <a:t>操作感知的分布式流处理质量控制研究</a:t>
            </a:r>
            <a:endParaRPr lang="zh-CN" altLang="en-US" sz="5400" dirty="0"/>
          </a:p>
        </p:txBody>
      </p:sp>
      <p:sp>
        <p:nvSpPr>
          <p:cNvPr id="3" name="副标题 2"/>
          <p:cNvSpPr>
            <a:spLocks noGrp="1"/>
          </p:cNvSpPr>
          <p:nvPr>
            <p:ph type="subTitle" idx="1"/>
          </p:nvPr>
        </p:nvSpPr>
        <p:spPr>
          <a:xfrm>
            <a:off x="1143000" y="4332962"/>
            <a:ext cx="6858000" cy="1655762"/>
          </a:xfrm>
        </p:spPr>
        <p:txBody>
          <a:bodyPr/>
          <a:lstStyle/>
          <a:p>
            <a:r>
              <a:rPr lang="zh-CN" altLang="en-US" dirty="0" smtClean="0"/>
              <a:t>               </a:t>
            </a:r>
            <a:r>
              <a:rPr lang="zh-CN" altLang="en-US" sz="2000" dirty="0" smtClean="0"/>
              <a:t>汇报人：王飞越</a:t>
            </a:r>
            <a:endParaRPr lang="en-US" altLang="zh-CN" sz="2000" dirty="0"/>
          </a:p>
          <a:p>
            <a:r>
              <a:rPr lang="zh-CN" altLang="en-US" sz="2000" dirty="0" smtClean="0"/>
              <a:t>导师、指导老师：陈汉华</a:t>
            </a:r>
            <a:endParaRPr lang="zh-CN" altLang="en-US" sz="2000" dirty="0"/>
          </a:p>
        </p:txBody>
      </p:sp>
      <p:pic>
        <p:nvPicPr>
          <p:cNvPr id="4" name="图片 13" descr="SCT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Key Laboratory of Cluster and Grid Compu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5"/>
          <p:cNvSpPr>
            <a:spLocks noGrp="1"/>
          </p:cNvSpPr>
          <p:nvPr>
            <p:ph type="sldNum" sz="quarter" idx="12"/>
          </p:nvPr>
        </p:nvSpPr>
        <p:spPr/>
        <p:txBody>
          <a:bodyPr/>
          <a:lstStyle/>
          <a:p>
            <a:fld id="{FEE77C4F-1B95-4166-9B38-E3B757F78B64}" type="slidenum">
              <a:rPr lang="zh-CN" altLang="en-US" smtClean="0"/>
              <a:t>1</a:t>
            </a:fld>
            <a:endParaRPr lang="zh-CN" altLang="en-US"/>
          </a:p>
        </p:txBody>
      </p:sp>
      <p:sp>
        <p:nvSpPr>
          <p:cNvPr id="7" name="页脚占位符 6"/>
          <p:cNvSpPr>
            <a:spLocks noGrp="1"/>
          </p:cNvSpPr>
          <p:nvPr>
            <p:ph type="ftr" sz="quarter" idx="11"/>
          </p:nvPr>
        </p:nvSpPr>
        <p:spPr/>
        <p:txBody>
          <a:bodyPr/>
          <a:lstStyle/>
          <a:p>
            <a:r>
              <a:rPr lang="zh-CN" altLang="en-US" smtClean="0"/>
              <a:t>操作感知的分布式流处理质量控制研究</a:t>
            </a:r>
            <a:endParaRPr lang="zh-CN" altLang="en-US"/>
          </a:p>
        </p:txBody>
      </p:sp>
    </p:spTree>
    <p:extLst>
      <p:ext uri="{BB962C8B-B14F-4D97-AF65-F5344CB8AC3E}">
        <p14:creationId xmlns:p14="http://schemas.microsoft.com/office/powerpoint/2010/main" val="2375958012"/>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目录</a:t>
            </a:r>
            <a:endParaRPr lang="zh-CN" altLang="en-US" dirty="0"/>
          </a:p>
        </p:txBody>
      </p:sp>
      <p:sp>
        <p:nvSpPr>
          <p:cNvPr id="3" name="内容占位符 2"/>
          <p:cNvSpPr>
            <a:spLocks noGrp="1"/>
          </p:cNvSpPr>
          <p:nvPr>
            <p:ph idx="1"/>
          </p:nvPr>
        </p:nvSpPr>
        <p:spPr/>
        <p:txBody>
          <a:bodyPr anchor="ctr"/>
          <a:lstStyle/>
          <a:p>
            <a:pPr marL="571500" indent="-571500" algn="ctr">
              <a:buFont typeface="+mj-ea"/>
              <a:buAutoNum type="ea1JpnChsDbPeriod"/>
            </a:pPr>
            <a:r>
              <a:rPr lang="zh-CN" altLang="en-US" dirty="0" smtClean="0"/>
              <a:t>研究背景</a:t>
            </a:r>
            <a:endParaRPr lang="en-US" altLang="zh-CN" dirty="0" smtClean="0"/>
          </a:p>
          <a:p>
            <a:pPr marL="571500" indent="-571500" algn="ctr">
              <a:buFont typeface="+mj-ea"/>
              <a:buAutoNum type="ea1JpnChsDbPeriod"/>
            </a:pPr>
            <a:r>
              <a:rPr lang="zh-CN" altLang="en-US" dirty="0" smtClean="0"/>
              <a:t>研究现状</a:t>
            </a:r>
            <a:endParaRPr lang="en-US" altLang="zh-CN" dirty="0"/>
          </a:p>
          <a:p>
            <a:pPr marL="571500" indent="-571500" algn="ctr">
              <a:buFont typeface="+mj-ea"/>
              <a:buAutoNum type="ea1JpnChsDbPeriod"/>
            </a:pPr>
            <a:r>
              <a:rPr lang="zh-CN" altLang="en-US" dirty="0" smtClean="0"/>
              <a:t>重点难点</a:t>
            </a:r>
            <a:endParaRPr lang="en-US" altLang="zh-CN" dirty="0" smtClean="0"/>
          </a:p>
          <a:p>
            <a:pPr marL="571500" indent="-571500" algn="ctr">
              <a:buFont typeface="+mj-ea"/>
              <a:buAutoNum type="ea1JpnChsDbPeriod"/>
            </a:pPr>
            <a:r>
              <a:rPr lang="zh-CN" altLang="en-US" dirty="0" smtClean="0"/>
              <a:t>研究方案</a:t>
            </a:r>
            <a:endParaRPr lang="en-US" altLang="zh-CN" dirty="0"/>
          </a:p>
          <a:p>
            <a:pPr marL="571500" indent="-571500" algn="ctr">
              <a:buFont typeface="+mj-ea"/>
              <a:buAutoNum type="ea1JpnChsDbPeriod"/>
            </a:pPr>
            <a:r>
              <a:rPr lang="zh-CN" altLang="en-US" dirty="0" smtClean="0"/>
              <a:t>预期成果</a:t>
            </a:r>
            <a:endParaRPr lang="en-US" altLang="zh-CN" dirty="0" smtClean="0"/>
          </a:p>
          <a:p>
            <a:pPr marL="571500" indent="-571500" algn="ctr">
              <a:buFont typeface="+mj-ea"/>
              <a:buAutoNum type="ea1JpnChsDbPeriod"/>
            </a:pPr>
            <a:r>
              <a:rPr lang="zh-CN" altLang="en-US" dirty="0" smtClean="0"/>
              <a:t>进度安排</a:t>
            </a:r>
            <a:endParaRPr lang="zh-CN" altLang="en-US" dirty="0"/>
          </a:p>
        </p:txBody>
      </p:sp>
      <p:pic>
        <p:nvPicPr>
          <p:cNvPr id="4" name="图片 13" descr="SCT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Key Laboratory of Cluster and Grid Compu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5"/>
          <p:cNvSpPr>
            <a:spLocks noGrp="1"/>
          </p:cNvSpPr>
          <p:nvPr>
            <p:ph type="sldNum" sz="quarter" idx="12"/>
          </p:nvPr>
        </p:nvSpPr>
        <p:spPr/>
        <p:txBody>
          <a:bodyPr/>
          <a:lstStyle/>
          <a:p>
            <a:fld id="{D8AFE1EA-9A1D-40B7-8DCD-A2E79638397E}" type="slidenum">
              <a:rPr lang="zh-CN" altLang="en-US" smtClean="0"/>
              <a:t>2</a:t>
            </a:fld>
            <a:endParaRPr lang="zh-CN" altLang="en-US"/>
          </a:p>
        </p:txBody>
      </p:sp>
      <p:sp>
        <p:nvSpPr>
          <p:cNvPr id="7" name="页脚占位符 6"/>
          <p:cNvSpPr>
            <a:spLocks noGrp="1"/>
          </p:cNvSpPr>
          <p:nvPr>
            <p:ph type="ftr" sz="quarter" idx="11"/>
          </p:nvPr>
        </p:nvSpPr>
        <p:spPr/>
        <p:txBody>
          <a:bodyPr/>
          <a:lstStyle/>
          <a:p>
            <a:r>
              <a:rPr lang="zh-CN" altLang="en-US" smtClean="0"/>
              <a:t>操作感知的分布式流处理质量控制研究</a:t>
            </a:r>
            <a:endParaRPr lang="zh-CN" altLang="en-US"/>
          </a:p>
        </p:txBody>
      </p:sp>
    </p:spTree>
    <p:extLst>
      <p:ext uri="{BB962C8B-B14F-4D97-AF65-F5344CB8AC3E}">
        <p14:creationId xmlns:p14="http://schemas.microsoft.com/office/powerpoint/2010/main" val="2422933494"/>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4518"/>
            <a:ext cx="7886700" cy="831657"/>
          </a:xfrm>
        </p:spPr>
        <p:txBody>
          <a:bodyPr>
            <a:normAutofit fontScale="90000"/>
          </a:bodyPr>
          <a:lstStyle/>
          <a:p>
            <a:pPr algn="ctr"/>
            <a:r>
              <a:rPr lang="zh-CN" altLang="en-US" dirty="0" smtClean="0"/>
              <a:t>一、研究背景</a:t>
            </a:r>
            <a:endParaRPr lang="zh-CN" altLang="en-US" dirty="0"/>
          </a:p>
        </p:txBody>
      </p:sp>
      <p:pic>
        <p:nvPicPr>
          <p:cNvPr id="9" name="图片 13" descr="SCT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Key Laboratory of Cluster and Grid Compu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fld id="{FEE77C4F-1B95-4166-9B38-E3B757F78B64}" type="slidenum">
              <a:rPr lang="zh-CN" altLang="en-US" smtClean="0"/>
              <a:t>3</a:t>
            </a:fld>
            <a:endParaRPr lang="zh-CN" altLang="en-US"/>
          </a:p>
        </p:txBody>
      </p:sp>
      <p:sp>
        <p:nvSpPr>
          <p:cNvPr id="4" name="页脚占位符 3"/>
          <p:cNvSpPr>
            <a:spLocks noGrp="1"/>
          </p:cNvSpPr>
          <p:nvPr>
            <p:ph type="ftr" sz="quarter" idx="11"/>
          </p:nvPr>
        </p:nvSpPr>
        <p:spPr/>
        <p:txBody>
          <a:bodyPr/>
          <a:lstStyle/>
          <a:p>
            <a:r>
              <a:rPr lang="zh-CN" altLang="en-US" smtClean="0"/>
              <a:t>操作感知的分布式流处理质量控制研究</a:t>
            </a:r>
            <a:endParaRPr lang="zh-CN" altLang="en-US"/>
          </a:p>
        </p:txBody>
      </p:sp>
    </p:spTree>
    <p:extLst>
      <p:ext uri="{BB962C8B-B14F-4D97-AF65-F5344CB8AC3E}">
        <p14:creationId xmlns:p14="http://schemas.microsoft.com/office/powerpoint/2010/main" val="3393360099"/>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研究背景</a:t>
            </a:r>
            <a:endParaRPr lang="zh-CN" altLang="en-US" dirty="0"/>
          </a:p>
        </p:txBody>
      </p:sp>
      <p:sp>
        <p:nvSpPr>
          <p:cNvPr id="4" name="灯片编号占位符 3"/>
          <p:cNvSpPr>
            <a:spLocks noGrp="1"/>
          </p:cNvSpPr>
          <p:nvPr>
            <p:ph type="sldNum" sz="quarter" idx="12"/>
          </p:nvPr>
        </p:nvSpPr>
        <p:spPr/>
        <p:txBody>
          <a:bodyPr/>
          <a:lstStyle/>
          <a:p>
            <a:fld id="{2035F806-B122-4290-BE4A-2C153E263B85}" type="slidenum">
              <a:rPr lang="zh-CN" altLang="en-US" smtClean="0"/>
              <a:t>4</a:t>
            </a:fld>
            <a:endParaRPr lang="zh-CN" altLang="en-US"/>
          </a:p>
        </p:txBody>
      </p:sp>
      <p:sp>
        <p:nvSpPr>
          <p:cNvPr id="5" name="页脚占位符 4"/>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7" name="内容占位符 6"/>
          <p:cNvSpPr>
            <a:spLocks noGrp="1"/>
          </p:cNvSpPr>
          <p:nvPr>
            <p:ph idx="1"/>
          </p:nvPr>
        </p:nvSpPr>
        <p:spPr/>
        <p:txBody>
          <a:bodyPr/>
          <a:lstStyle/>
          <a:p>
            <a:endParaRPr lang="en-US" altLang="zh-CN" dirty="0" smtClean="0"/>
          </a:p>
          <a:p>
            <a:endParaRPr lang="zh-CN" altLang="en-US" dirty="0"/>
          </a:p>
        </p:txBody>
      </p:sp>
      <p:pic>
        <p:nvPicPr>
          <p:cNvPr id="9" name="图片 13" descr="SCT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Key Laboratory of Cluster and Grid Compu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0647" y="1488484"/>
            <a:ext cx="6922706" cy="4688479"/>
          </a:xfrm>
          <a:prstGeom prst="rect">
            <a:avLst/>
          </a:prstGeom>
        </p:spPr>
      </p:pic>
      <p:pic>
        <p:nvPicPr>
          <p:cNvPr id="12" name="图片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3916" y="1488484"/>
            <a:ext cx="7019437" cy="4686694"/>
          </a:xfrm>
          <a:prstGeom prst="rect">
            <a:avLst/>
          </a:prstGeom>
        </p:spPr>
      </p:pic>
    </p:spTree>
    <p:extLst>
      <p:ext uri="{BB962C8B-B14F-4D97-AF65-F5344CB8AC3E}">
        <p14:creationId xmlns:p14="http://schemas.microsoft.com/office/powerpoint/2010/main" val="3683400717"/>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研究背景</a:t>
            </a:r>
            <a:endParaRPr lang="zh-CN" altLang="en-US" dirty="0"/>
          </a:p>
        </p:txBody>
      </p:sp>
      <p:sp>
        <p:nvSpPr>
          <p:cNvPr id="3" name="内容占位符 2"/>
          <p:cNvSpPr>
            <a:spLocks noGrp="1"/>
          </p:cNvSpPr>
          <p:nvPr>
            <p:ph idx="1"/>
          </p:nvPr>
        </p:nvSpPr>
        <p:spPr/>
        <p:txBody>
          <a:bodyPr/>
          <a:lstStyle/>
          <a:p>
            <a:r>
              <a:rPr lang="zh-CN" altLang="en-US" dirty="0" smtClean="0"/>
              <a:t>准确处理</a:t>
            </a:r>
            <a:endParaRPr lang="en-US" altLang="zh-CN" dirty="0" smtClean="0"/>
          </a:p>
          <a:p>
            <a:endParaRPr lang="en-US" altLang="zh-CN" dirty="0" smtClean="0"/>
          </a:p>
          <a:p>
            <a:pPr lvl="1"/>
            <a:endParaRPr lang="en-US" altLang="zh-CN" dirty="0" smtClean="0"/>
          </a:p>
          <a:p>
            <a:pPr lvl="1"/>
            <a:endParaRPr lang="en-US" altLang="zh-CN" dirty="0" smtClean="0"/>
          </a:p>
          <a:p>
            <a:pPr lvl="1"/>
            <a:endParaRPr lang="en-US" altLang="zh-CN" dirty="0"/>
          </a:p>
          <a:p>
            <a:r>
              <a:rPr lang="zh-CN" altLang="en-US" dirty="0" smtClean="0"/>
              <a:t>近似处理</a:t>
            </a:r>
            <a:endParaRPr lang="en-US" altLang="zh-CN" dirty="0" smtClean="0"/>
          </a:p>
          <a:p>
            <a:endParaRPr lang="zh-CN" altLang="en-US" dirty="0"/>
          </a:p>
        </p:txBody>
      </p:sp>
      <p:sp>
        <p:nvSpPr>
          <p:cNvPr id="4" name="页脚占位符 3"/>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5" name="灯片编号占位符 4"/>
          <p:cNvSpPr>
            <a:spLocks noGrp="1"/>
          </p:cNvSpPr>
          <p:nvPr>
            <p:ph type="sldNum" sz="quarter" idx="12"/>
          </p:nvPr>
        </p:nvSpPr>
        <p:spPr/>
        <p:txBody>
          <a:bodyPr/>
          <a:lstStyle/>
          <a:p>
            <a:fld id="{2035F806-B122-4290-BE4A-2C153E263B85}" type="slidenum">
              <a:rPr lang="zh-CN" altLang="en-US" smtClean="0"/>
              <a:t>5</a:t>
            </a:fld>
            <a:endParaRPr lang="zh-CN" altLang="en-US"/>
          </a:p>
        </p:txBody>
      </p:sp>
      <p:pic>
        <p:nvPicPr>
          <p:cNvPr id="6" name="图片 13" descr="SCT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Key Laboratory of Cluster and Grid Compu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流程图: 过程 12"/>
          <p:cNvSpPr/>
          <p:nvPr/>
        </p:nvSpPr>
        <p:spPr>
          <a:xfrm>
            <a:off x="923925" y="2457450"/>
            <a:ext cx="285750" cy="638175"/>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30</a:t>
            </a:r>
            <a:endParaRPr lang="zh-CN" altLang="en-US" dirty="0">
              <a:solidFill>
                <a:schemeClr val="tx1"/>
              </a:solidFill>
            </a:endParaRPr>
          </a:p>
        </p:txBody>
      </p:sp>
      <p:sp>
        <p:nvSpPr>
          <p:cNvPr id="14" name="流程图: 过程 13"/>
          <p:cNvSpPr/>
          <p:nvPr/>
        </p:nvSpPr>
        <p:spPr>
          <a:xfrm>
            <a:off x="1343025" y="2457450"/>
            <a:ext cx="285750" cy="638175"/>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40</a:t>
            </a:r>
            <a:endParaRPr lang="zh-CN" altLang="en-US" dirty="0">
              <a:solidFill>
                <a:schemeClr val="tx1"/>
              </a:solidFill>
            </a:endParaRPr>
          </a:p>
        </p:txBody>
      </p:sp>
      <p:sp>
        <p:nvSpPr>
          <p:cNvPr id="15" name="流程图: 过程 14"/>
          <p:cNvSpPr/>
          <p:nvPr/>
        </p:nvSpPr>
        <p:spPr>
          <a:xfrm>
            <a:off x="1762125" y="2457450"/>
            <a:ext cx="285750" cy="638175"/>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r>
              <a:rPr lang="en-US" altLang="zh-CN" dirty="0" smtClean="0">
                <a:solidFill>
                  <a:schemeClr val="tx1"/>
                </a:solidFill>
              </a:rPr>
              <a:t>0</a:t>
            </a:r>
            <a:endParaRPr lang="zh-CN" altLang="en-US" dirty="0">
              <a:solidFill>
                <a:schemeClr val="tx1"/>
              </a:solidFill>
            </a:endParaRPr>
          </a:p>
        </p:txBody>
      </p:sp>
      <p:sp>
        <p:nvSpPr>
          <p:cNvPr id="16" name="流程图: 过程 15"/>
          <p:cNvSpPr/>
          <p:nvPr/>
        </p:nvSpPr>
        <p:spPr>
          <a:xfrm>
            <a:off x="2181225" y="2459038"/>
            <a:ext cx="285750" cy="638175"/>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r>
              <a:rPr lang="en-US" altLang="zh-CN" dirty="0" smtClean="0">
                <a:solidFill>
                  <a:schemeClr val="tx1"/>
                </a:solidFill>
              </a:rPr>
              <a:t>0</a:t>
            </a:r>
            <a:endParaRPr lang="zh-CN" altLang="en-US" dirty="0">
              <a:solidFill>
                <a:schemeClr val="tx1"/>
              </a:solidFill>
            </a:endParaRPr>
          </a:p>
        </p:txBody>
      </p:sp>
      <p:sp>
        <p:nvSpPr>
          <p:cNvPr id="17" name="流程图: 过程 16"/>
          <p:cNvSpPr/>
          <p:nvPr/>
        </p:nvSpPr>
        <p:spPr>
          <a:xfrm>
            <a:off x="2600325" y="2457450"/>
            <a:ext cx="285750" cy="638175"/>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70</a:t>
            </a:r>
            <a:endParaRPr lang="zh-CN" altLang="en-US" dirty="0">
              <a:solidFill>
                <a:schemeClr val="tx1"/>
              </a:solidFill>
            </a:endParaRPr>
          </a:p>
        </p:txBody>
      </p:sp>
      <p:cxnSp>
        <p:nvCxnSpPr>
          <p:cNvPr id="21" name="直接箭头连接符 20"/>
          <p:cNvCxnSpPr/>
          <p:nvPr/>
        </p:nvCxnSpPr>
        <p:spPr>
          <a:xfrm>
            <a:off x="714375" y="2352675"/>
            <a:ext cx="24288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714375" y="3219450"/>
            <a:ext cx="24288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143250" y="2000250"/>
            <a:ext cx="1114425"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计数</a:t>
            </a:r>
            <a:endParaRPr lang="en-US" altLang="zh-CN" dirty="0" smtClean="0">
              <a:solidFill>
                <a:schemeClr val="tx1"/>
              </a:solidFill>
            </a:endParaRPr>
          </a:p>
          <a:p>
            <a:pPr algn="ctr"/>
            <a:r>
              <a:rPr lang="zh-CN" altLang="en-US" dirty="0" smtClean="0">
                <a:solidFill>
                  <a:schemeClr val="tx1"/>
                </a:solidFill>
              </a:rPr>
              <a:t>平均值</a:t>
            </a:r>
            <a:endParaRPr lang="zh-CN" altLang="en-US" dirty="0">
              <a:solidFill>
                <a:schemeClr val="tx1"/>
              </a:solidFill>
            </a:endParaRPr>
          </a:p>
        </p:txBody>
      </p:sp>
      <p:cxnSp>
        <p:nvCxnSpPr>
          <p:cNvPr id="28" name="直接连接符 27"/>
          <p:cNvCxnSpPr>
            <a:stCxn id="24" idx="1"/>
            <a:endCxn id="24" idx="3"/>
          </p:cNvCxnSpPr>
          <p:nvPr/>
        </p:nvCxnSpPr>
        <p:spPr>
          <a:xfrm>
            <a:off x="3143250" y="2800350"/>
            <a:ext cx="11144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4267200" y="2457450"/>
            <a:ext cx="781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4257675" y="3095625"/>
            <a:ext cx="781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流程图: 过程 31"/>
          <p:cNvSpPr/>
          <p:nvPr/>
        </p:nvSpPr>
        <p:spPr>
          <a:xfrm>
            <a:off x="5038725" y="2113757"/>
            <a:ext cx="552450" cy="609600"/>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5</a:t>
            </a:r>
            <a:endParaRPr lang="zh-CN" altLang="en-US" dirty="0">
              <a:solidFill>
                <a:schemeClr val="tx1"/>
              </a:solidFill>
            </a:endParaRPr>
          </a:p>
        </p:txBody>
      </p:sp>
      <p:sp>
        <p:nvSpPr>
          <p:cNvPr id="33" name="流程图: 过程 32"/>
          <p:cNvSpPr/>
          <p:nvPr/>
        </p:nvSpPr>
        <p:spPr>
          <a:xfrm>
            <a:off x="5048250" y="2776537"/>
            <a:ext cx="552450" cy="609600"/>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50</a:t>
            </a:r>
            <a:endParaRPr lang="zh-CN" altLang="en-US" dirty="0">
              <a:solidFill>
                <a:schemeClr val="tx1"/>
              </a:solidFill>
            </a:endParaRPr>
          </a:p>
        </p:txBody>
      </p:sp>
      <p:sp>
        <p:nvSpPr>
          <p:cNvPr id="35" name="流程图: 过程 34"/>
          <p:cNvSpPr/>
          <p:nvPr/>
        </p:nvSpPr>
        <p:spPr>
          <a:xfrm>
            <a:off x="1333500" y="4643437"/>
            <a:ext cx="285750" cy="638175"/>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40</a:t>
            </a:r>
            <a:endParaRPr lang="zh-CN" altLang="en-US" dirty="0">
              <a:solidFill>
                <a:schemeClr val="tx1"/>
              </a:solidFill>
            </a:endParaRPr>
          </a:p>
        </p:txBody>
      </p:sp>
      <p:sp>
        <p:nvSpPr>
          <p:cNvPr id="36" name="流程图: 过程 35"/>
          <p:cNvSpPr/>
          <p:nvPr/>
        </p:nvSpPr>
        <p:spPr>
          <a:xfrm>
            <a:off x="1752600" y="4643437"/>
            <a:ext cx="285750" cy="638175"/>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r>
              <a:rPr lang="en-US" altLang="zh-CN" dirty="0" smtClean="0">
                <a:solidFill>
                  <a:schemeClr val="tx1"/>
                </a:solidFill>
              </a:rPr>
              <a:t>0</a:t>
            </a:r>
            <a:endParaRPr lang="zh-CN" altLang="en-US" dirty="0">
              <a:solidFill>
                <a:schemeClr val="tx1"/>
              </a:solidFill>
            </a:endParaRPr>
          </a:p>
        </p:txBody>
      </p:sp>
      <p:sp>
        <p:nvSpPr>
          <p:cNvPr id="37" name="流程图: 过程 36"/>
          <p:cNvSpPr/>
          <p:nvPr/>
        </p:nvSpPr>
        <p:spPr>
          <a:xfrm>
            <a:off x="2171700" y="4645025"/>
            <a:ext cx="285750" cy="638175"/>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r>
              <a:rPr lang="en-US" altLang="zh-CN" dirty="0" smtClean="0">
                <a:solidFill>
                  <a:schemeClr val="tx1"/>
                </a:solidFill>
              </a:rPr>
              <a:t>0</a:t>
            </a:r>
            <a:endParaRPr lang="zh-CN" altLang="en-US" dirty="0">
              <a:solidFill>
                <a:schemeClr val="tx1"/>
              </a:solidFill>
            </a:endParaRPr>
          </a:p>
        </p:txBody>
      </p:sp>
      <p:cxnSp>
        <p:nvCxnSpPr>
          <p:cNvPr id="39" name="直接箭头连接符 38"/>
          <p:cNvCxnSpPr/>
          <p:nvPr/>
        </p:nvCxnSpPr>
        <p:spPr>
          <a:xfrm>
            <a:off x="704850" y="4538662"/>
            <a:ext cx="24288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704850" y="5405437"/>
            <a:ext cx="24288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3133725" y="4186237"/>
            <a:ext cx="1114425"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计数</a:t>
            </a:r>
            <a:endParaRPr lang="en-US" altLang="zh-CN" dirty="0" smtClean="0">
              <a:solidFill>
                <a:schemeClr val="tx1"/>
              </a:solidFill>
            </a:endParaRPr>
          </a:p>
          <a:p>
            <a:pPr algn="ctr"/>
            <a:r>
              <a:rPr lang="zh-CN" altLang="en-US" dirty="0" smtClean="0">
                <a:solidFill>
                  <a:schemeClr val="tx1"/>
                </a:solidFill>
              </a:rPr>
              <a:t>平均值</a:t>
            </a:r>
            <a:endParaRPr lang="zh-CN" altLang="en-US" dirty="0">
              <a:solidFill>
                <a:schemeClr val="tx1"/>
              </a:solidFill>
            </a:endParaRPr>
          </a:p>
        </p:txBody>
      </p:sp>
      <p:cxnSp>
        <p:nvCxnSpPr>
          <p:cNvPr id="42" name="直接连接符 41"/>
          <p:cNvCxnSpPr>
            <a:stCxn id="41" idx="1"/>
            <a:endCxn id="41" idx="3"/>
          </p:cNvCxnSpPr>
          <p:nvPr/>
        </p:nvCxnSpPr>
        <p:spPr>
          <a:xfrm>
            <a:off x="3133725" y="4986337"/>
            <a:ext cx="11144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4257675" y="4643437"/>
            <a:ext cx="781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4248150" y="5281612"/>
            <a:ext cx="781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流程图: 过程 44"/>
          <p:cNvSpPr/>
          <p:nvPr/>
        </p:nvSpPr>
        <p:spPr>
          <a:xfrm>
            <a:off x="5029200" y="4299744"/>
            <a:ext cx="552450" cy="609600"/>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46" name="流程图: 过程 45"/>
          <p:cNvSpPr/>
          <p:nvPr/>
        </p:nvSpPr>
        <p:spPr>
          <a:xfrm>
            <a:off x="5038725" y="4962524"/>
            <a:ext cx="552450" cy="609600"/>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50</a:t>
            </a:r>
            <a:endParaRPr lang="zh-CN" altLang="en-US" dirty="0">
              <a:solidFill>
                <a:schemeClr val="tx1"/>
              </a:solidFill>
            </a:endParaRPr>
          </a:p>
        </p:txBody>
      </p:sp>
    </p:spTree>
    <p:extLst>
      <p:ext uri="{BB962C8B-B14F-4D97-AF65-F5344CB8AC3E}">
        <p14:creationId xmlns:p14="http://schemas.microsoft.com/office/powerpoint/2010/main" val="2516934440"/>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smtClean="0"/>
              <a:t>研究背景</a:t>
            </a:r>
            <a:endParaRPr lang="zh-CN" altLang="en-US" dirty="0"/>
          </a:p>
        </p:txBody>
      </p:sp>
      <p:sp>
        <p:nvSpPr>
          <p:cNvPr id="10" name="内容占位符 9"/>
          <p:cNvSpPr>
            <a:spLocks noGrp="1"/>
          </p:cNvSpPr>
          <p:nvPr>
            <p:ph sz="half" idx="1"/>
          </p:nvPr>
        </p:nvSpPr>
        <p:spPr>
          <a:solidFill>
            <a:schemeClr val="bg2"/>
          </a:solidFill>
        </p:spPr>
        <p:txBody>
          <a:bodyPr/>
          <a:lstStyle/>
          <a:p>
            <a:r>
              <a:rPr lang="zh-CN" altLang="en-US" dirty="0" smtClean="0"/>
              <a:t>目标</a:t>
            </a:r>
            <a:endParaRPr lang="en-US" altLang="zh-CN" dirty="0" smtClean="0"/>
          </a:p>
          <a:p>
            <a:pPr lvl="1"/>
            <a:r>
              <a:rPr lang="zh-CN" altLang="en-US" dirty="0" smtClean="0"/>
              <a:t>在系统过载时，实现分布式流处理的质量控制</a:t>
            </a:r>
            <a:endParaRPr lang="zh-CN" altLang="en-US" dirty="0"/>
          </a:p>
        </p:txBody>
      </p:sp>
      <p:sp>
        <p:nvSpPr>
          <p:cNvPr id="11" name="内容占位符 10"/>
          <p:cNvSpPr>
            <a:spLocks noGrp="1"/>
          </p:cNvSpPr>
          <p:nvPr>
            <p:ph sz="half" idx="2"/>
          </p:nvPr>
        </p:nvSpPr>
        <p:spPr>
          <a:solidFill>
            <a:schemeClr val="accent1">
              <a:lumMod val="75000"/>
            </a:schemeClr>
          </a:solidFill>
        </p:spPr>
        <p:txBody>
          <a:bodyPr/>
          <a:lstStyle/>
          <a:p>
            <a:r>
              <a:rPr lang="zh-CN" altLang="en-US" dirty="0" smtClean="0">
                <a:solidFill>
                  <a:schemeClr val="bg1"/>
                </a:solidFill>
              </a:rPr>
              <a:t>挑战</a:t>
            </a:r>
            <a:endParaRPr lang="en-US" altLang="zh-CN" dirty="0" smtClean="0">
              <a:solidFill>
                <a:schemeClr val="bg1"/>
              </a:solidFill>
            </a:endParaRPr>
          </a:p>
          <a:p>
            <a:pPr lvl="1"/>
            <a:r>
              <a:rPr lang="zh-CN" altLang="en-US" dirty="0" smtClean="0">
                <a:solidFill>
                  <a:schemeClr val="bg1"/>
                </a:solidFill>
              </a:rPr>
              <a:t>操作的种类繁多，对不同操作目前还没有统一的质量衡量方法</a:t>
            </a:r>
            <a:endParaRPr lang="en-US" altLang="zh-CN" dirty="0" smtClean="0">
              <a:solidFill>
                <a:schemeClr val="bg1"/>
              </a:solidFill>
            </a:endParaRPr>
          </a:p>
          <a:p>
            <a:pPr lvl="1"/>
            <a:r>
              <a:rPr lang="zh-CN" altLang="en-US" dirty="0" smtClean="0">
                <a:solidFill>
                  <a:schemeClr val="bg1"/>
                </a:solidFill>
              </a:rPr>
              <a:t>由操作组成的查询的拓扑更复杂</a:t>
            </a:r>
            <a:endParaRPr lang="en-US" altLang="zh-CN" dirty="0" smtClean="0">
              <a:solidFill>
                <a:schemeClr val="bg1"/>
              </a:solidFill>
            </a:endParaRPr>
          </a:p>
          <a:p>
            <a:pPr lvl="1"/>
            <a:endParaRPr lang="zh-CN" altLang="en-US" dirty="0">
              <a:solidFill>
                <a:schemeClr val="bg1"/>
              </a:solidFill>
            </a:endParaRPr>
          </a:p>
        </p:txBody>
      </p:sp>
      <p:sp>
        <p:nvSpPr>
          <p:cNvPr id="7" name="页脚占位符 6"/>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8" name="灯片编号占位符 7"/>
          <p:cNvSpPr>
            <a:spLocks noGrp="1"/>
          </p:cNvSpPr>
          <p:nvPr>
            <p:ph type="sldNum" sz="quarter" idx="12"/>
          </p:nvPr>
        </p:nvSpPr>
        <p:spPr/>
        <p:txBody>
          <a:bodyPr/>
          <a:lstStyle/>
          <a:p>
            <a:fld id="{2035F806-B122-4290-BE4A-2C153E263B85}" type="slidenum">
              <a:rPr lang="zh-CN" altLang="en-US" smtClean="0"/>
              <a:t>6</a:t>
            </a:fld>
            <a:endParaRPr lang="zh-CN" altLang="en-US"/>
          </a:p>
        </p:txBody>
      </p:sp>
      <p:pic>
        <p:nvPicPr>
          <p:cNvPr id="12" name="图片 13" descr="SCT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4" descr="Key Laboratory of Cluster and Grid Compu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2432053"/>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4518"/>
            <a:ext cx="7886700" cy="831657"/>
          </a:xfrm>
        </p:spPr>
        <p:txBody>
          <a:bodyPr>
            <a:normAutofit fontScale="90000"/>
          </a:bodyPr>
          <a:lstStyle/>
          <a:p>
            <a:pPr algn="ctr"/>
            <a:r>
              <a:rPr lang="zh-CN" altLang="en-US" dirty="0"/>
              <a:t>二</a:t>
            </a:r>
            <a:r>
              <a:rPr lang="zh-CN" altLang="en-US" dirty="0" smtClean="0"/>
              <a:t>、研究现状</a:t>
            </a:r>
            <a:endParaRPr lang="zh-CN" altLang="en-US" dirty="0"/>
          </a:p>
        </p:txBody>
      </p:sp>
      <p:pic>
        <p:nvPicPr>
          <p:cNvPr id="9" name="图片 13" descr="SCT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Key Laboratory of Cluster and Grid Comput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p:cNvSpPr>
            <a:spLocks noGrp="1"/>
          </p:cNvSpPr>
          <p:nvPr>
            <p:ph type="sldNum" sz="quarter" idx="12"/>
          </p:nvPr>
        </p:nvSpPr>
        <p:spPr/>
        <p:txBody>
          <a:bodyPr/>
          <a:lstStyle/>
          <a:p>
            <a:fld id="{FEE77C4F-1B95-4166-9B38-E3B757F78B64}" type="slidenum">
              <a:rPr lang="zh-CN" altLang="en-US" smtClean="0"/>
              <a:t>7</a:t>
            </a:fld>
            <a:endParaRPr lang="zh-CN" altLang="en-US"/>
          </a:p>
        </p:txBody>
      </p:sp>
    </p:spTree>
    <p:extLst>
      <p:ext uri="{BB962C8B-B14F-4D97-AF65-F5344CB8AC3E}">
        <p14:creationId xmlns:p14="http://schemas.microsoft.com/office/powerpoint/2010/main" val="389289261"/>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研究现状</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页脚占位符 3"/>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5" name="灯片编号占位符 4"/>
          <p:cNvSpPr>
            <a:spLocks noGrp="1"/>
          </p:cNvSpPr>
          <p:nvPr>
            <p:ph type="sldNum" sz="quarter" idx="12"/>
          </p:nvPr>
        </p:nvSpPr>
        <p:spPr/>
        <p:txBody>
          <a:bodyPr/>
          <a:lstStyle/>
          <a:p>
            <a:fld id="{2035F806-B122-4290-BE4A-2C153E263B85}" type="slidenum">
              <a:rPr lang="zh-CN" altLang="en-US" smtClean="0"/>
              <a:t>8</a:t>
            </a:fld>
            <a:endParaRPr lang="zh-CN" altLang="en-US"/>
          </a:p>
        </p:txBody>
      </p:sp>
      <p:pic>
        <p:nvPicPr>
          <p:cNvPr id="6" name="图片 13" descr="SCT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Key Laboratory of Cluster and Grid Compu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流程图: 过程 8"/>
          <p:cNvSpPr/>
          <p:nvPr/>
        </p:nvSpPr>
        <p:spPr>
          <a:xfrm>
            <a:off x="628650" y="3819525"/>
            <a:ext cx="1133475" cy="46672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相关工作</a:t>
            </a:r>
            <a:endParaRPr lang="zh-CN" altLang="en-US" dirty="0"/>
          </a:p>
        </p:txBody>
      </p:sp>
      <p:sp>
        <p:nvSpPr>
          <p:cNvPr id="15" name="流程图: 过程 14"/>
          <p:cNvSpPr/>
          <p:nvPr/>
        </p:nvSpPr>
        <p:spPr>
          <a:xfrm>
            <a:off x="2195509" y="4972050"/>
            <a:ext cx="1133475" cy="46672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分布式</a:t>
            </a:r>
          </a:p>
        </p:txBody>
      </p:sp>
      <p:sp>
        <p:nvSpPr>
          <p:cNvPr id="17" name="流程图: 过程 16"/>
          <p:cNvSpPr/>
          <p:nvPr/>
        </p:nvSpPr>
        <p:spPr>
          <a:xfrm>
            <a:off x="2195509" y="2666998"/>
            <a:ext cx="1133475" cy="46672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单个节点</a:t>
            </a:r>
          </a:p>
        </p:txBody>
      </p:sp>
      <p:sp>
        <p:nvSpPr>
          <p:cNvPr id="18" name="流程图: 过程 17"/>
          <p:cNvSpPr/>
          <p:nvPr/>
        </p:nvSpPr>
        <p:spPr>
          <a:xfrm>
            <a:off x="3629025" y="1847851"/>
            <a:ext cx="4410075" cy="51435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Load Shedding in a Data Stream Manager,VLDB’03</a:t>
            </a:r>
            <a:endParaRPr lang="zh-CN" altLang="en-US" sz="1600" dirty="0"/>
          </a:p>
        </p:txBody>
      </p:sp>
      <p:sp>
        <p:nvSpPr>
          <p:cNvPr id="21" name="流程图: 过程 20"/>
          <p:cNvSpPr/>
          <p:nvPr/>
        </p:nvSpPr>
        <p:spPr>
          <a:xfrm>
            <a:off x="3629023" y="3390895"/>
            <a:ext cx="4410075" cy="51435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Adaptive Load Shedding for Windowed Stream Joins,CIKM’05</a:t>
            </a:r>
            <a:endParaRPr lang="zh-CN" altLang="en-US" sz="1600" dirty="0"/>
          </a:p>
        </p:txBody>
      </p:sp>
      <p:sp>
        <p:nvSpPr>
          <p:cNvPr id="22" name="流程图: 过程 21"/>
          <p:cNvSpPr/>
          <p:nvPr/>
        </p:nvSpPr>
        <p:spPr>
          <a:xfrm>
            <a:off x="3629022" y="2619373"/>
            <a:ext cx="4410075" cy="514350"/>
          </a:xfrm>
          <a:prstGeom prst="flowChartProces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smtClean="0"/>
              <a:t>Load Shedding for Aggregation Queries over Data Streams,ICDE’04</a:t>
            </a:r>
            <a:endParaRPr lang="zh-CN" altLang="en-US" sz="1600" dirty="0"/>
          </a:p>
        </p:txBody>
      </p:sp>
      <p:sp>
        <p:nvSpPr>
          <p:cNvPr id="23" name="流程图: 过程 22"/>
          <p:cNvSpPr/>
          <p:nvPr/>
        </p:nvSpPr>
        <p:spPr>
          <a:xfrm>
            <a:off x="3629025" y="4141795"/>
            <a:ext cx="4410075" cy="51435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Staying FIT: Efficient Load Shedding Techniques for Distributed Stream Processing,VLDB’07</a:t>
            </a:r>
            <a:endParaRPr lang="zh-CN" altLang="en-US" sz="1600" dirty="0"/>
          </a:p>
        </p:txBody>
      </p:sp>
      <p:sp>
        <p:nvSpPr>
          <p:cNvPr id="24" name="流程图: 过程 23"/>
          <p:cNvSpPr/>
          <p:nvPr/>
        </p:nvSpPr>
        <p:spPr>
          <a:xfrm>
            <a:off x="3629021" y="5664217"/>
            <a:ext cx="4410075" cy="51435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THEMIS: Fairness in Federated Stream Processing under Overload,SIGMOD’16</a:t>
            </a:r>
            <a:endParaRPr lang="zh-CN" altLang="en-US" sz="1600" dirty="0"/>
          </a:p>
        </p:txBody>
      </p:sp>
      <p:sp>
        <p:nvSpPr>
          <p:cNvPr id="25" name="流程图: 过程 24"/>
          <p:cNvSpPr/>
          <p:nvPr/>
        </p:nvSpPr>
        <p:spPr>
          <a:xfrm>
            <a:off x="3629022" y="4913317"/>
            <a:ext cx="4410075" cy="514350"/>
          </a:xfrm>
          <a:prstGeom prst="flowChartProces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dirty="0" smtClean="0"/>
              <a:t>Optimal</a:t>
            </a:r>
            <a:r>
              <a:rPr lang="en-US" altLang="zh-CN" sz="1600" b="0" baseline="0" dirty="0" smtClean="0"/>
              <a:t> Load Shedding with Aggregates and Mining Queries,ICDE’10</a:t>
            </a:r>
            <a:endParaRPr lang="en-US" altLang="zh-CN" sz="1600" b="0" dirty="0" smtClean="0"/>
          </a:p>
        </p:txBody>
      </p:sp>
      <p:sp>
        <p:nvSpPr>
          <p:cNvPr id="28" name="左大括号 27"/>
          <p:cNvSpPr/>
          <p:nvPr/>
        </p:nvSpPr>
        <p:spPr>
          <a:xfrm>
            <a:off x="1845469" y="2914650"/>
            <a:ext cx="216694" cy="229552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左大括号 29"/>
          <p:cNvSpPr/>
          <p:nvPr/>
        </p:nvSpPr>
        <p:spPr>
          <a:xfrm>
            <a:off x="3396849" y="2104238"/>
            <a:ext cx="170259" cy="15430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左大括号 32"/>
          <p:cNvSpPr/>
          <p:nvPr/>
        </p:nvSpPr>
        <p:spPr>
          <a:xfrm>
            <a:off x="3393873" y="4398970"/>
            <a:ext cx="170259" cy="15430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4046015407"/>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研究现状</a:t>
            </a:r>
            <a:endParaRPr lang="zh-CN" altLang="en-US" dirty="0"/>
          </a:p>
        </p:txBody>
      </p:sp>
      <p:sp>
        <p:nvSpPr>
          <p:cNvPr id="3" name="内容占位符 2"/>
          <p:cNvSpPr>
            <a:spLocks noGrp="1"/>
          </p:cNvSpPr>
          <p:nvPr>
            <p:ph idx="1"/>
          </p:nvPr>
        </p:nvSpPr>
        <p:spPr/>
        <p:txBody>
          <a:bodyPr/>
          <a:lstStyle/>
          <a:p>
            <a:r>
              <a:rPr lang="en-US" altLang="zh-CN" dirty="0" smtClean="0"/>
              <a:t>THEMIS</a:t>
            </a:r>
          </a:p>
          <a:p>
            <a:pPr lvl="1"/>
            <a:r>
              <a:rPr lang="zh-CN" altLang="en-US" dirty="0" smtClean="0"/>
              <a:t>将查询当做黑箱处理</a:t>
            </a:r>
            <a:endParaRPr lang="en-US" altLang="zh-CN" dirty="0" smtClean="0"/>
          </a:p>
          <a:p>
            <a:pPr lvl="1"/>
            <a:r>
              <a:rPr lang="zh-CN" altLang="en-US" dirty="0" smtClean="0"/>
              <a:t>定义了与查询无关的质量指标：</a:t>
            </a:r>
            <a:r>
              <a:rPr lang="en-US" altLang="zh-CN" dirty="0" smtClean="0"/>
              <a:t>SIC</a:t>
            </a:r>
            <a:r>
              <a:rPr lang="zh-CN" altLang="en-US" dirty="0" smtClean="0"/>
              <a:t>（</a:t>
            </a:r>
            <a:r>
              <a:rPr lang="en-US" altLang="zh-CN" dirty="0" smtClean="0"/>
              <a:t>Source Information Context</a:t>
            </a:r>
            <a:r>
              <a:rPr lang="zh-CN" altLang="en-US" dirty="0" smtClean="0"/>
              <a:t>）</a:t>
            </a:r>
            <a:endParaRPr lang="en-US" altLang="zh-CN" dirty="0" smtClean="0"/>
          </a:p>
          <a:p>
            <a:pPr lvl="1"/>
            <a:r>
              <a:rPr lang="zh-CN" altLang="en-US" dirty="0"/>
              <a:t>解决</a:t>
            </a:r>
            <a:r>
              <a:rPr lang="zh-CN" altLang="en-US" dirty="0" smtClean="0"/>
              <a:t>了同一查询的不同片断部署在不同数据中心的分布式流处理的公平的元组丢弃</a:t>
            </a:r>
            <a:endParaRPr lang="zh-CN" altLang="en-US" dirty="0"/>
          </a:p>
        </p:txBody>
      </p:sp>
      <p:sp>
        <p:nvSpPr>
          <p:cNvPr id="4" name="页脚占位符 3"/>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5" name="灯片编号占位符 4"/>
          <p:cNvSpPr>
            <a:spLocks noGrp="1"/>
          </p:cNvSpPr>
          <p:nvPr>
            <p:ph type="sldNum" sz="quarter" idx="12"/>
          </p:nvPr>
        </p:nvSpPr>
        <p:spPr/>
        <p:txBody>
          <a:bodyPr/>
          <a:lstStyle/>
          <a:p>
            <a:fld id="{2035F806-B122-4290-BE4A-2C153E263B85}" type="slidenum">
              <a:rPr lang="zh-CN" altLang="en-US" smtClean="0"/>
              <a:t>9</a:t>
            </a:fld>
            <a:endParaRPr lang="zh-CN" altLang="en-US"/>
          </a:p>
        </p:txBody>
      </p:sp>
      <p:pic>
        <p:nvPicPr>
          <p:cNvPr id="6" name="图片 13" descr="SCT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Key Laboratory of Cluster and Grid Comput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7654193"/>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5" name="灯片编号占位符 4"/>
          <p:cNvSpPr>
            <a:spLocks noGrp="1"/>
          </p:cNvSpPr>
          <p:nvPr>
            <p:ph type="sldNum" sz="quarter" idx="12"/>
          </p:nvPr>
        </p:nvSpPr>
        <p:spPr/>
        <p:txBody>
          <a:bodyPr/>
          <a:lstStyle/>
          <a:p>
            <a:fld id="{2035F806-B122-4290-BE4A-2C153E263B85}" type="slidenum">
              <a:rPr lang="zh-CN" altLang="en-US" smtClean="0"/>
              <a:t>10</a:t>
            </a:fld>
            <a:endParaRPr lang="zh-CN" altLang="en-US"/>
          </a:p>
        </p:txBody>
      </p:sp>
      <p:pic>
        <p:nvPicPr>
          <p:cNvPr id="6" name="图片 13" descr="SCT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Key Laboratory of Cluster and Grid Comput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5402290"/>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5" name="灯片编号占位符 4"/>
          <p:cNvSpPr>
            <a:spLocks noGrp="1"/>
          </p:cNvSpPr>
          <p:nvPr>
            <p:ph type="sldNum" sz="quarter" idx="12"/>
          </p:nvPr>
        </p:nvSpPr>
        <p:spPr/>
        <p:txBody>
          <a:bodyPr/>
          <a:lstStyle/>
          <a:p>
            <a:fld id="{2035F806-B122-4290-BE4A-2C153E263B85}" type="slidenum">
              <a:rPr lang="zh-CN" altLang="en-US" smtClean="0"/>
              <a:t>11</a:t>
            </a:fld>
            <a:endParaRPr lang="zh-CN" altLang="en-US"/>
          </a:p>
        </p:txBody>
      </p:sp>
      <p:pic>
        <p:nvPicPr>
          <p:cNvPr id="6" name="图片 13" descr="SCT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Key Laboratory of Cluster and Grid Comput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5272287"/>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smtClean="0"/>
              <a:t>操作感知的分布式流处理质量控制研究</a:t>
            </a:r>
            <a:endParaRPr lang="zh-CN" altLang="en-US"/>
          </a:p>
        </p:txBody>
      </p:sp>
      <p:sp>
        <p:nvSpPr>
          <p:cNvPr id="5" name="灯片编号占位符 4"/>
          <p:cNvSpPr>
            <a:spLocks noGrp="1"/>
          </p:cNvSpPr>
          <p:nvPr>
            <p:ph type="sldNum" sz="quarter" idx="12"/>
          </p:nvPr>
        </p:nvSpPr>
        <p:spPr/>
        <p:txBody>
          <a:bodyPr/>
          <a:lstStyle/>
          <a:p>
            <a:fld id="{2035F806-B122-4290-BE4A-2C153E263B85}" type="slidenum">
              <a:rPr lang="zh-CN" altLang="en-US" smtClean="0"/>
              <a:t>12</a:t>
            </a:fld>
            <a:endParaRPr lang="zh-CN" altLang="en-US"/>
          </a:p>
        </p:txBody>
      </p:sp>
      <p:pic>
        <p:nvPicPr>
          <p:cNvPr id="6" name="图片 13" descr="SCT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4121" y="0"/>
            <a:ext cx="1031081"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Key Laboratory of Cluster and Grid Comput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05202" y="0"/>
            <a:ext cx="919163" cy="63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2862117"/>
      </p:ext>
    </p:extLst>
  </p:cSld>
  <p:clrMapOvr>
    <a:masterClrMapping/>
  </p:clrMapOvr>
  <mc:AlternateContent xmlns:mc="http://schemas.openxmlformats.org/markup-compatibility/2006" xmlns:p14="http://schemas.microsoft.com/office/powerpoint/2010/main">
    <mc:Choice Requires="p14">
      <p:transition spd="slow" p14:dur="2500" advTm="769"/>
    </mc:Choice>
    <mc:Fallback xmlns="">
      <p:transition spd="slow" advTm="769"/>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493</TotalTime>
  <Words>709</Words>
  <Application>Microsoft Office PowerPoint</Application>
  <PresentationFormat>全屏显示(4:3)</PresentationFormat>
  <Paragraphs>96</Paragraphs>
  <Slides>12</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宋体</vt:lpstr>
      <vt:lpstr>Arial</vt:lpstr>
      <vt:lpstr>Calibri</vt:lpstr>
      <vt:lpstr>Calibri Light</vt:lpstr>
      <vt:lpstr>Office 主题</vt:lpstr>
      <vt:lpstr>操作感知的分布式流处理质量控制研究</vt:lpstr>
      <vt:lpstr>目录</vt:lpstr>
      <vt:lpstr>一、研究背景</vt:lpstr>
      <vt:lpstr>研究背景</vt:lpstr>
      <vt:lpstr>研究背景</vt:lpstr>
      <vt:lpstr>研究背景</vt:lpstr>
      <vt:lpstr>二、研究现状</vt:lpstr>
      <vt:lpstr>研究现状</vt:lpstr>
      <vt:lpstr>研究现状</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操作感知的分布式流处理质量控制研究</dc:title>
  <dc:creator>王飞越</dc:creator>
  <cp:lastModifiedBy>王飞越</cp:lastModifiedBy>
  <cp:revision>26</cp:revision>
  <dcterms:created xsi:type="dcterms:W3CDTF">2017-03-12T07:10:09Z</dcterms:created>
  <dcterms:modified xsi:type="dcterms:W3CDTF">2017-03-12T16:10:12Z</dcterms:modified>
</cp:coreProperties>
</file>